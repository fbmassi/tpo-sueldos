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hGmhgFKdbm2zuWqYVzu1lwtmxc+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548640" y="1828800"/>
            <a:ext cx="1188720" cy="164592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502920" y="2148840"/>
            <a:ext cx="1115568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TECH </a:t>
            </a:r>
            <a:r>
              <a:rPr b="1" i="0" lang="en-US" sz="58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ARGENTINO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Análisis y predicción de salarios del sector IT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548640" y="5852160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TPO Minería de Datos   ·   Sysarmy 2022–2025   ·   31.088 profesionales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00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EQUIPO Y ESTRATEGIA</a:t>
            </a:r>
            <a:endParaRPr/>
          </a:p>
        </p:txBody>
      </p:sp>
      <p:sp>
        <p:nvSpPr>
          <p:cNvPr id="94" name="Google Shape;94;p2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Quiénes somos y cómo trabajamos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548640" y="1874519"/>
            <a:ext cx="2697480" cy="27432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731520" y="2057400"/>
            <a:ext cx="2377500" cy="10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Datos / ETL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Descarga, integración de 9 fuentes y limpieza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3355848" y="1874519"/>
            <a:ext cx="2697480" cy="27432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3538728" y="2057400"/>
            <a:ext cx="2377500" cy="10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Feature eng. / Modelado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Variables, Random Forest, K-Means y evaluación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6163056" y="1874519"/>
            <a:ext cx="2697480" cy="27432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6345936" y="2057400"/>
            <a:ext cx="2377500" cy="8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EDA / Visualización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 exploratorio y storytelling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8970264" y="1874519"/>
            <a:ext cx="2697480" cy="27432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9153144" y="2057400"/>
            <a:ext cx="2377500" cy="8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App / Documentación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Streamlit, informe y presentación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548640" y="4892040"/>
            <a:ext cx="110642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Estrategia (metodología CRISP-DM):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Comprensión del negocio → Datos → Preparación (limpieza + feature engineering) → Modelado → Evaluación → Despliegue. Trabajo iterativo y versionado en Git, con ramas por feature.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01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DESCRIPCIÓN DEL DOMINIO Y PROBLEMÁTICA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Mercado laboral tech argentino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El contexto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Sector dinámico, alta rotación y fuerte demanda internacional.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Salarios atados a una macro volátil: +900% de inflación en 3 años y un dólar que se cuadruplicó.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Falta de información integrada sobre salarios: cada encuesta usa otra moneda y otro nivel de precios.</a:t>
            </a:r>
            <a:endParaRPr/>
          </a:p>
        </p:txBody>
      </p:sp>
      <p:sp>
        <p:nvSpPr>
          <p:cNvPr id="112" name="Google Shape;112;p3"/>
          <p:cNvSpPr/>
          <p:nvPr/>
        </p:nvSpPr>
        <p:spPr>
          <a:xfrm>
            <a:off x="6766560" y="1783080"/>
            <a:ext cx="4846320" cy="429768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 txBox="1"/>
          <p:nvPr/>
        </p:nvSpPr>
        <p:spPr>
          <a:xfrm>
            <a:off x="7040880" y="2011680"/>
            <a:ext cx="429768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HIPÓTESIS CENTRAL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sueldo real de un profesional tech está determinado por su perfil (rol, experiencia) y su contexto (provincia, modalidad, tamaño de empresa), una vez expresado en moneda constante para que las ediciones sean comparables entre sí.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01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HIPÓTESIS A TESTEAR</a:t>
            </a:r>
            <a:endParaRPr/>
          </a:p>
        </p:txBody>
      </p:sp>
      <p:sp>
        <p:nvSpPr>
          <p:cNvPr id="120" name="Google Shape;120;p4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Seis hipótesis desagregadas</a:t>
            </a:r>
            <a:endParaRPr/>
          </a:p>
        </p:txBody>
      </p:sp>
      <p:sp>
        <p:nvSpPr>
          <p:cNvPr id="121" name="Google Shape;121;p4"/>
          <p:cNvSpPr/>
          <p:nvPr/>
        </p:nvSpPr>
        <p:spPr>
          <a:xfrm>
            <a:off x="548640" y="19659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 txBox="1"/>
          <p:nvPr/>
        </p:nvSpPr>
        <p:spPr>
          <a:xfrm>
            <a:off x="548640" y="21305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H1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1600200" y="21671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Seniority/experiencia es el factor más predictivo</a:t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548640" y="33375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 txBox="1"/>
          <p:nvPr/>
        </p:nvSpPr>
        <p:spPr>
          <a:xfrm>
            <a:off x="548640" y="35021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H2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1600200" y="35387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experiencia tiene rendimientos decrecientes</a:t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548640" y="47091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548640" y="48737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H3</a:t>
            </a:r>
            <a:endParaRPr/>
          </a:p>
        </p:txBody>
      </p:sp>
      <p:sp>
        <p:nvSpPr>
          <p:cNvPr id="129" name="Google Shape;129;p4"/>
          <p:cNvSpPr txBox="1"/>
          <p:nvPr/>
        </p:nvSpPr>
        <p:spPr>
          <a:xfrm>
            <a:off x="1600200" y="49103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Hay tecnologías con premium salarial</a:t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6309360" y="19659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 txBox="1"/>
          <p:nvPr/>
        </p:nvSpPr>
        <p:spPr>
          <a:xfrm>
            <a:off x="6309360" y="21305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H4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7360920" y="21671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CABA paga más, pero menos de lo que se cree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6309360" y="33375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 txBox="1"/>
          <p:nvPr/>
        </p:nvSpPr>
        <p:spPr>
          <a:xfrm>
            <a:off x="6309360" y="35021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H5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7360920" y="35387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Cobrar en dólares da más estabilidad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6309360" y="4709160"/>
            <a:ext cx="868680" cy="841248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 txBox="1"/>
          <p:nvPr/>
        </p:nvSpPr>
        <p:spPr>
          <a:xfrm>
            <a:off x="6309360" y="4873752"/>
            <a:ext cx="868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H6</a:t>
            </a:r>
            <a:endParaRPr/>
          </a:p>
        </p:txBody>
      </p:sp>
      <p:sp>
        <p:nvSpPr>
          <p:cNvPr id="138" name="Google Shape;138;p4"/>
          <p:cNvSpPr txBox="1"/>
          <p:nvPr/>
        </p:nvSpPr>
        <p:spPr>
          <a:xfrm>
            <a:off x="7360920" y="4910328"/>
            <a:ext cx="4206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ITCRM mueve los sueldos en dólares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02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PROPUESTA Y VALOR PARA EL NEGOCIO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Qué construimos y para qué sirve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548640" y="1783080"/>
            <a:ext cx="585216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Pipeline de datos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Unifica 6 ediciones de Sysarmy con 8 series macro.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Produce un dataset único, limpio y comparable en el tiempo.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Alimenta los modelos y una app web interactiva.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Valor para la gerencia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Benchmarking salarial objetivo para ofertas y retención.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Detección de brechas y de los factores que mueven el sueldo.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Lectura del impacto macro sobre el costo del talento.</a:t>
            </a: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6766560" y="1783080"/>
            <a:ext cx="4846320" cy="4297680"/>
          </a:xfrm>
          <a:prstGeom prst="roundRect">
            <a:avLst>
              <a:gd fmla="val 16667" name="adj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 txBox="1"/>
          <p:nvPr/>
        </p:nvSpPr>
        <p:spPr>
          <a:xfrm>
            <a:off x="7040880" y="2057400"/>
            <a:ext cx="429768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EN NÚMEROS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31.088   </a:t>
            </a: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profesionales analizados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6   </a:t>
            </a: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ediciones unificadas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9   </a:t>
            </a: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fuentes de datos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2   </a:t>
            </a:r>
            <a:r>
              <a:rPr b="0" i="0" lang="en-US" sz="13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apps (ES/ARS · EN/USD)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0" i="0" sz="1300" u="none" cap="none" strike="noStrik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02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FUENTES UTILIZADAS</a:t>
            </a:r>
            <a:endParaRPr/>
          </a:p>
        </p:txBody>
      </p:sp>
      <p:sp>
        <p:nvSpPr>
          <p:cNvPr id="155" name="Google Shape;155;p6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Nueve fuentes integradas</a:t>
            </a: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548640" y="182880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731520" y="197510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Sysarmy (6 ed.)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Salarios y perfiles — 31.088 resp.</a:t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4297679" y="182880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 txBox="1"/>
          <p:nvPr/>
        </p:nvSpPr>
        <p:spPr>
          <a:xfrm>
            <a:off x="4480559" y="197510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IPC INDEC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Inflación AR (deflactor pesos)</a:t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8046719" y="182880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8229599" y="197510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Dólar MEP / Blue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Tipo de cambio histórico</a:t>
            </a:r>
            <a:endParaRPr/>
          </a:p>
        </p:txBody>
      </p:sp>
      <p:sp>
        <p:nvSpPr>
          <p:cNvPr id="162" name="Google Shape;162;p6"/>
          <p:cNvSpPr/>
          <p:nvPr/>
        </p:nvSpPr>
        <p:spPr>
          <a:xfrm>
            <a:off x="548640" y="324612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731520" y="339242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US CPI (FRED)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Inflación EE.UU. (deflactor USD)</a:t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4297679" y="324612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 txBox="1"/>
          <p:nvPr/>
        </p:nvSpPr>
        <p:spPr>
          <a:xfrm>
            <a:off x="4480559" y="339242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CBT INDEC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Canasta básica (poder adquis.)</a:t>
            </a:r>
            <a:endParaRPr/>
          </a:p>
        </p:txBody>
      </p:sp>
      <p:sp>
        <p:nvSpPr>
          <p:cNvPr id="166" name="Google Shape;166;p6"/>
          <p:cNvSpPr/>
          <p:nvPr/>
        </p:nvSpPr>
        <p:spPr>
          <a:xfrm>
            <a:off x="8046719" y="324612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 txBox="1"/>
          <p:nvPr/>
        </p:nvSpPr>
        <p:spPr>
          <a:xfrm>
            <a:off x="8229599" y="339242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RIPTE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Salario formal promedio</a:t>
            </a:r>
            <a:endParaRPr/>
          </a:p>
        </p:txBody>
      </p:sp>
      <p:sp>
        <p:nvSpPr>
          <p:cNvPr id="168" name="Google Shape;168;p6"/>
          <p:cNvSpPr/>
          <p:nvPr/>
        </p:nvSpPr>
        <p:spPr>
          <a:xfrm>
            <a:off x="548640" y="466344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 txBox="1"/>
          <p:nvPr/>
        </p:nvSpPr>
        <p:spPr>
          <a:xfrm>
            <a:off x="731520" y="480974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Big Mac Index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Paridad de poder de compra</a:t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4297679" y="466344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4480559" y="480974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ITCRM (BCRA)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Tipo de cambio real multilateral</a:t>
            </a:r>
            <a:endParaRPr/>
          </a:p>
        </p:txBody>
      </p:sp>
      <p:sp>
        <p:nvSpPr>
          <p:cNvPr id="172" name="Google Shape;172;p6"/>
          <p:cNvSpPr/>
          <p:nvPr/>
        </p:nvSpPr>
        <p:spPr>
          <a:xfrm>
            <a:off x="8046719" y="4663440"/>
            <a:ext cx="3566160" cy="123444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 txBox="1"/>
          <p:nvPr/>
        </p:nvSpPr>
        <p:spPr>
          <a:xfrm>
            <a:off x="8229599" y="4809744"/>
            <a:ext cx="32461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Stack Overflow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Benchmark internacional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7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ARQUITECTURA DE LA SOLUCIÓN</a:t>
            </a:r>
            <a:endParaRPr/>
          </a:p>
        </p:txBody>
      </p:sp>
      <p:sp>
        <p:nvSpPr>
          <p:cNvPr id="180" name="Google Shape;180;p7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Pipeline — diagrama de flujo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640080" y="2103120"/>
            <a:ext cx="2468880" cy="21945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7"/>
          <p:cNvSpPr txBox="1"/>
          <p:nvPr/>
        </p:nvSpPr>
        <p:spPr>
          <a:xfrm>
            <a:off x="822959" y="2286000"/>
            <a:ext cx="2148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DESCARGA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9 fuentes → data/raw</a:t>
            </a: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3136391" y="2926080"/>
            <a:ext cx="29260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3447287" y="2103120"/>
            <a:ext cx="2468880" cy="21945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 txBox="1"/>
          <p:nvPr/>
        </p:nvSpPr>
        <p:spPr>
          <a:xfrm>
            <a:off x="3630168" y="2286000"/>
            <a:ext cx="2148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LIMPIEZA +</a:t>
            </a:r>
            <a:b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UNIFICACIÓN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6 ediciones armonizadas</a:t>
            </a:r>
            <a:endParaRPr/>
          </a:p>
        </p:txBody>
      </p:sp>
      <p:sp>
        <p:nvSpPr>
          <p:cNvPr id="186" name="Google Shape;186;p7"/>
          <p:cNvSpPr/>
          <p:nvPr/>
        </p:nvSpPr>
        <p:spPr>
          <a:xfrm>
            <a:off x="5943600" y="2926080"/>
            <a:ext cx="29260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6254496" y="2103120"/>
            <a:ext cx="2468880" cy="21945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 txBox="1"/>
          <p:nvPr/>
        </p:nvSpPr>
        <p:spPr>
          <a:xfrm>
            <a:off x="6437376" y="2286000"/>
            <a:ext cx="2148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AJUSTE REAL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IPC + US CPI · base may-2026</a:t>
            </a:r>
            <a:endParaRPr/>
          </a:p>
        </p:txBody>
      </p:sp>
      <p:sp>
        <p:nvSpPr>
          <p:cNvPr id="189" name="Google Shape;189;p7"/>
          <p:cNvSpPr/>
          <p:nvPr/>
        </p:nvSpPr>
        <p:spPr>
          <a:xfrm>
            <a:off x="8750808" y="2926080"/>
            <a:ext cx="29260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9061704" y="2103120"/>
            <a:ext cx="2468880" cy="21945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 txBox="1"/>
          <p:nvPr/>
        </p:nvSpPr>
        <p:spPr>
          <a:xfrm>
            <a:off x="9244584" y="2286000"/>
            <a:ext cx="21488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DATASET</a:t>
            </a:r>
            <a:b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4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FINAL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31.088 × 17 + contexto</a:t>
            </a:r>
            <a:endParaRPr/>
          </a:p>
        </p:txBody>
      </p:sp>
      <p:sp>
        <p:nvSpPr>
          <p:cNvPr id="192" name="Google Shape;192;p7"/>
          <p:cNvSpPr/>
          <p:nvPr/>
        </p:nvSpPr>
        <p:spPr>
          <a:xfrm>
            <a:off x="11558016" y="2926080"/>
            <a:ext cx="29260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Salidas: dataset_final + contexto_macroeconomico (FK fecha_edicion) · 12 láminas de EDA · modelos (RF + K-Means) · app Streamlit (ES/ARS y EN/USD).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i="0" lang="en-US" sz="1300" u="none" cap="none" strike="noStrike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FOCO: LIMPIEZA DE DATOS</a:t>
            </a:r>
            <a:endParaRPr/>
          </a:p>
        </p:txBody>
      </p:sp>
      <p:sp>
        <p:nvSpPr>
          <p:cNvPr id="200" name="Google Shape;200;p8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De 6 encuestas heterogéneas a un dataset</a:t>
            </a:r>
            <a:endParaRPr/>
          </a:p>
        </p:txBody>
      </p:sp>
      <p:sp>
        <p:nvSpPr>
          <p:cNvPr id="201" name="Google Shape;201;p8"/>
          <p:cNvSpPr txBox="1"/>
          <p:nvPr/>
        </p:nvSpPr>
        <p:spPr>
          <a:xfrm>
            <a:off x="548640" y="1783080"/>
            <a:ext cx="676656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Armonización de esquemas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cada edición traía 43–56 columnas con nombres distintos; mapeo por tokens al mismo esquema.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Parseo y tipado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salario de texto a número; fechas; normalización de texto.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Valores faltantes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eliminación en columnas críticas (provincia, salario); imputación por mediana/moda en el resto.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Outliers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se conservan marcados; sólo se descartan errores de carga evidentes (&gt;50× la mediana).</a:t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7589520" y="1783080"/>
            <a:ext cx="4023360" cy="429768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7863840" y="2194560"/>
            <a:ext cx="356616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 txBox="1"/>
          <p:nvPr/>
        </p:nvSpPr>
        <p:spPr>
          <a:xfrm>
            <a:off x="7680960" y="2286000"/>
            <a:ext cx="38404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32.309</a:t>
            </a:r>
            <a:endParaRPr/>
          </a:p>
        </p:txBody>
      </p:sp>
      <p:sp>
        <p:nvSpPr>
          <p:cNvPr id="205" name="Google Shape;205;p8"/>
          <p:cNvSpPr txBox="1"/>
          <p:nvPr/>
        </p:nvSpPr>
        <p:spPr>
          <a:xfrm>
            <a:off x="7680960" y="315468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filas crudas</a:t>
            </a: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9326880" y="3611880"/>
            <a:ext cx="365760" cy="50292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 txBox="1"/>
          <p:nvPr/>
        </p:nvSpPr>
        <p:spPr>
          <a:xfrm>
            <a:off x="7680960" y="4160520"/>
            <a:ext cx="38404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31.088</a:t>
            </a:r>
            <a:endParaRPr/>
          </a:p>
        </p:txBody>
      </p:sp>
      <p:sp>
        <p:nvSpPr>
          <p:cNvPr id="208" name="Google Shape;208;p8"/>
          <p:cNvSpPr txBox="1"/>
          <p:nvPr/>
        </p:nvSpPr>
        <p:spPr>
          <a:xfrm>
            <a:off x="7680960" y="50292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filas finales  ·  sólo 3,8% descartado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FOCO: LIMPIEZA DE DATOS</a:t>
            </a: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La limpieza en números, edición por edición</a:t>
            </a:r>
            <a:endParaRPr/>
          </a:p>
        </p:txBody>
      </p:sp>
      <p:pic>
        <p:nvPicPr>
          <p:cNvPr descr="limpieza_filas_bn.png" id="216" name="Google Shape;2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922272"/>
            <a:ext cx="7863840" cy="401929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9"/>
          <p:cNvSpPr/>
          <p:nvPr/>
        </p:nvSpPr>
        <p:spPr>
          <a:xfrm>
            <a:off x="8412480" y="1783080"/>
            <a:ext cx="3291840" cy="420624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8641080" y="2011680"/>
            <a:ext cx="28803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QUÉ MUESTRA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Gris: lo que llegó crudo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Negro: lo que quedó tras limpiar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La brecha es mínima en todas las ediciones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Se descarta sólo lo crítico irrecuperable (sin salario o provincia) y errores de carga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Limpiar ≠ recortar: es conservar datos confiables.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0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FOCO: FEATURE ENGINEERING</a:t>
            </a:r>
            <a:endParaRPr/>
          </a:p>
        </p:txBody>
      </p:sp>
      <p:sp>
        <p:nvSpPr>
          <p:cNvPr id="225" name="Google Shape;225;p10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Construcción de variables — y su justificación</a:t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548640" y="1828800"/>
            <a:ext cx="5486400" cy="12801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 txBox="1"/>
          <p:nvPr/>
        </p:nvSpPr>
        <p:spPr>
          <a:xfrm>
            <a:off x="731520" y="1975104"/>
            <a:ext cx="5166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Tecnologías: FUERA del modelo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 premium era proxy del contexto (backend/dólar) y como feature generaban ruido; se analizan en el EDA.</a:t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548640" y="3246120"/>
            <a:ext cx="5486400" cy="12801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731520" y="3392424"/>
            <a:ext cx="5166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Agrupar roles (698 → top 15 + «Otro»)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reduce cardinalidad y evita dummies ruidosas / overfitting.</a:t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6263640" y="1828800"/>
            <a:ext cx="5486400" cy="12801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0"/>
          <p:cNvSpPr txBox="1"/>
          <p:nvPr/>
        </p:nvSpPr>
        <p:spPr>
          <a:xfrm>
            <a:off x="6446520" y="1975104"/>
            <a:ext cx="5166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Target real (deflación IPC / US CPI)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ingeniería del objetivo: hace los salarios comparables en el tiempo.</a:t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6263640" y="3246120"/>
            <a:ext cx="5486400" cy="12801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6446520" y="3392424"/>
            <a:ext cx="516636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Selección: se quita seniority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redundante con experiencia (multicolinealidad) → mismo R² con menos ruido.</a:t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3337515" y="4663440"/>
            <a:ext cx="5486400" cy="12801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 txBox="1"/>
          <p:nvPr/>
        </p:nvSpPr>
        <p:spPr>
          <a:xfrm>
            <a:off x="3497582" y="4892044"/>
            <a:ext cx="5166300" cy="4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Anti-leakage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 excluyen variables derivadas del salario (USD, canastas).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FOCO: FEATURE ENGINEERING</a:t>
            </a:r>
            <a:endParaRPr/>
          </a:p>
        </p:txBody>
      </p:sp>
      <p:sp>
        <p:nvSpPr>
          <p:cNvPr id="242" name="Google Shape;242;p11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El caso de los roles: 698 → 16 categorías</a:t>
            </a:r>
            <a:endParaRPr/>
          </a:p>
        </p:txBody>
      </p:sp>
      <p:pic>
        <p:nvPicPr>
          <p:cNvPr descr="roles_pareto_bn.png" id="243" name="Google Shape;24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1862488"/>
            <a:ext cx="7863840" cy="413886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1"/>
          <p:cNvSpPr/>
          <p:nvPr/>
        </p:nvSpPr>
        <p:spPr>
          <a:xfrm>
            <a:off x="8412480" y="1783080"/>
            <a:ext cx="3291840" cy="420624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 txBox="1"/>
          <p:nvPr/>
        </p:nvSpPr>
        <p:spPr>
          <a:xfrm>
            <a:off x="8641080" y="2011680"/>
            <a:ext cx="28803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POR QUÉ AGRUPAR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698 puestos distintos escritos de mil maneras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El top-15 cubre el 90% de los casos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683 roles suman apenas el 10% restante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Menos categorías raras → menos columnas dummy → menos overfitting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La curva ámbar es la cobertura acumulada.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03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FOCO: FEATURE ENGINEERING</a:t>
            </a:r>
            <a:endParaRPr/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La prueba: el modelo con y sin tecnologías</a:t>
            </a:r>
            <a:endParaRPr/>
          </a:p>
        </p:txBody>
      </p:sp>
      <p:pic>
        <p:nvPicPr>
          <p:cNvPr descr="fe_impacto_bn.png" id="253" name="Google Shape;25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097024"/>
            <a:ext cx="7863840" cy="36697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2"/>
          <p:cNvSpPr/>
          <p:nvPr/>
        </p:nvSpPr>
        <p:spPr>
          <a:xfrm>
            <a:off x="8412480" y="1783080"/>
            <a:ext cx="3291840" cy="420624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2"/>
          <p:cNvSpPr txBox="1"/>
          <p:nvPr/>
        </p:nvSpPr>
        <p:spPr>
          <a:xfrm>
            <a:off x="8641080" y="2011680"/>
            <a:ext cx="28803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LA EVIDENCIA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Entrenamos las dos versiones y comparamos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R² casi igual: 0,297 → 0,272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Menos sobreajuste (gap train−test más chico)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Y sin disparates: «Go» en un helpdesk ya no infla la estimación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1" lang="en-US" sz="115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Decisión basada en evidencia, no en intuición.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04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  <a:endParaRPr/>
          </a:p>
        </p:txBody>
      </p:sp>
      <p:sp>
        <p:nvSpPr>
          <p:cNvPr id="262" name="Google Shape;262;p1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Distribución de salarios</a:t>
            </a:r>
            <a:endParaRPr/>
          </a:p>
        </p:txBody>
      </p:sp>
      <p:pic>
        <p:nvPicPr>
          <p:cNvPr descr="distribucion_bn.png" id="263" name="Google Shape;26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316158"/>
            <a:ext cx="8503920" cy="3048642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3"/>
          <p:cNvSpPr txBox="1"/>
          <p:nvPr/>
        </p:nvSpPr>
        <p:spPr>
          <a:xfrm>
            <a:off x="9052560" y="192024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$3,19M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mediana (ARS)</a:t>
            </a:r>
            <a:endParaRPr/>
          </a:p>
        </p:txBody>
      </p:sp>
      <p:sp>
        <p:nvSpPr>
          <p:cNvPr id="265" name="Google Shape;265;p13"/>
          <p:cNvSpPr txBox="1"/>
          <p:nvPr/>
        </p:nvSpPr>
        <p:spPr>
          <a:xfrm>
            <a:off x="9052560" y="338328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USD 2.264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mediana (USD)</a:t>
            </a:r>
            <a:endParaRPr/>
          </a:p>
        </p:txBody>
      </p:sp>
      <p:sp>
        <p:nvSpPr>
          <p:cNvPr id="266" name="Google Shape;266;p13"/>
          <p:cNvSpPr txBox="1"/>
          <p:nvPr/>
        </p:nvSpPr>
        <p:spPr>
          <a:xfrm>
            <a:off x="9052560" y="484632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31.088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profesionales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04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  <a:endParaRPr/>
          </a:p>
        </p:txBody>
      </p:sp>
      <p:sp>
        <p:nvSpPr>
          <p:cNvPr id="273" name="Google Shape;273;p14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Seniority, modalidad y provincias</a:t>
            </a:r>
            <a:endParaRPr/>
          </a:p>
        </p:txBody>
      </p:sp>
      <p:pic>
        <p:nvPicPr>
          <p:cNvPr descr="eda_02_seniority.png" id="274" name="Google Shape;2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702518"/>
            <a:ext cx="5669280" cy="40930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da_05_geografia.png" id="275" name="Google Shape;27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0" y="1733106"/>
            <a:ext cx="5577840" cy="4031866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4"/>
          <p:cNvSpPr txBox="1"/>
          <p:nvPr/>
        </p:nvSpPr>
        <p:spPr>
          <a:xfrm>
            <a:off x="548640" y="5897880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Seniority casi sin solapamiento (jr $1,8M → sr $4,3M)  ·  CABA +24% vs interior  ·  remoto +43% en USD.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5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04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EDA</a:t>
            </a:r>
            <a:endParaRPr/>
          </a:p>
        </p:txBody>
      </p:sp>
      <p:sp>
        <p:nvSpPr>
          <p:cNvPr id="283" name="Google Shape;283;p15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Tecnologías más usadas</a:t>
            </a:r>
            <a:endParaRPr/>
          </a:p>
        </p:txBody>
      </p:sp>
      <p:pic>
        <p:nvPicPr>
          <p:cNvPr descr="eda_04_tecnologias.png" id="284" name="Google Shape;28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0082" y="1691640"/>
            <a:ext cx="6083755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15"/>
          <p:cNvSpPr/>
          <p:nvPr/>
        </p:nvSpPr>
        <p:spPr>
          <a:xfrm>
            <a:off x="8321040" y="1874519"/>
            <a:ext cx="3383280" cy="402336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5"/>
          <p:cNvSpPr txBox="1"/>
          <p:nvPr/>
        </p:nvSpPr>
        <p:spPr>
          <a:xfrm>
            <a:off x="8549640" y="2103120"/>
            <a:ext cx="292608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EL PREMIUM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lo da la cantidad de tecnologías, sino cuáles: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Go +45%  ·  Rust +48%  ·  Scala +42%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Python +13%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Frontend web (CSS/HTML) bajo la media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04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EDA · DISPERSIÓN Y VARIABLES</a:t>
            </a:r>
            <a:endParaRPr/>
          </a:p>
        </p:txBody>
      </p:sp>
      <p:sp>
        <p:nvSpPr>
          <p:cNvPr id="293" name="Google Shape;293;p16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Cómo se eligieron los ejes (PCA)</a:t>
            </a:r>
            <a:endParaRPr/>
          </a:p>
        </p:txBody>
      </p:sp>
      <p:pic>
        <p:nvPicPr>
          <p:cNvPr descr="clusters_bn.png" id="294" name="Google Shape;29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351472"/>
            <a:ext cx="7680960" cy="2886574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16"/>
          <p:cNvSpPr/>
          <p:nvPr/>
        </p:nvSpPr>
        <p:spPr>
          <a:xfrm>
            <a:off x="8366760" y="1828800"/>
            <a:ext cx="3337560" cy="411480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 txBox="1"/>
          <p:nvPr/>
        </p:nvSpPr>
        <p:spPr>
          <a:xfrm>
            <a:off x="8595360" y="2057400"/>
            <a:ext cx="288036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PROYECCIÓN 2D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perfil tiene muchas dimensiones; PCA las comprime a 2 ejes: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Comp. 1 (48%) — años de carrera (junior → senior)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Comp. 2 (15%) — rotación / antigüedad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125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Puntos cercanos = perfiles parecidos.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05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MODELOS DE MINERÍA DE DATOS</a:t>
            </a:r>
            <a:endParaRPr/>
          </a:p>
        </p:txBody>
      </p:sp>
      <p:sp>
        <p:nvSpPr>
          <p:cNvPr id="303" name="Google Shape;303;p17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Variable target</a:t>
            </a:r>
            <a:endParaRPr/>
          </a:p>
        </p:txBody>
      </p:sp>
      <p:sp>
        <p:nvSpPr>
          <p:cNvPr id="304" name="Google Shape;304;p17"/>
          <p:cNvSpPr txBox="1"/>
          <p:nvPr/>
        </p:nvSpPr>
        <p:spPr>
          <a:xfrm>
            <a:off x="548640" y="1828800"/>
            <a:ext cx="58521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Qué predecimos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El salario bruto REAL, no el nominal: deflactado a pesos (por IPC) y a dólares (por US CPI) de mayo 2026. Así un perfil es comparable entre ediciones.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Por qué real y no nominal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5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El número nominal creció 10× sólo por inflación: entrenar sobre nominal mezclaría épocas y aprendería el paso del tiempo, no el perfil.</a:t>
            </a:r>
            <a:endParaRPr/>
          </a:p>
        </p:txBody>
      </p:sp>
      <p:sp>
        <p:nvSpPr>
          <p:cNvPr id="305" name="Google Shape;305;p17"/>
          <p:cNvSpPr/>
          <p:nvPr/>
        </p:nvSpPr>
        <p:spPr>
          <a:xfrm>
            <a:off x="6766560" y="1828800"/>
            <a:ext cx="4846320" cy="411480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7"/>
          <p:cNvSpPr txBox="1"/>
          <p:nvPr/>
        </p:nvSpPr>
        <p:spPr>
          <a:xfrm>
            <a:off x="7086600" y="2286000"/>
            <a:ext cx="420624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DOS UNIDADES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salario_real_ars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pesos constantes may-2026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salario_real_usd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dólares constantes may-2026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125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Difieren en una constante → mismo R².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8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05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COMPARACIÓN DE MODELOS</a:t>
            </a:r>
            <a:endParaRPr/>
          </a:p>
        </p:txBody>
      </p:sp>
      <p:sp>
        <p:nvSpPr>
          <p:cNvPr id="313" name="Google Shape;313;p18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Cinco técnicas comparadas</a:t>
            </a:r>
            <a:endParaRPr/>
          </a:p>
        </p:txBody>
      </p:sp>
      <p:pic>
        <p:nvPicPr>
          <p:cNvPr descr="modelos_bn.png" id="314" name="Google Shape;3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229381"/>
            <a:ext cx="7315200" cy="3130757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18"/>
          <p:cNvSpPr/>
          <p:nvPr/>
        </p:nvSpPr>
        <p:spPr>
          <a:xfrm>
            <a:off x="7955279" y="1828800"/>
            <a:ext cx="3749039" cy="4114800"/>
          </a:xfrm>
          <a:prstGeom prst="roundRect">
            <a:avLst>
              <a:gd fmla="val 16667" name="adj"/>
            </a:avLst>
          </a:prstGeom>
          <a:solidFill>
            <a:srgbClr val="EDED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8"/>
          <p:cNvSpPr txBox="1"/>
          <p:nvPr/>
        </p:nvSpPr>
        <p:spPr>
          <a:xfrm>
            <a:off x="8183879" y="2057400"/>
            <a:ext cx="329184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VALIDACIÓN TEMPORAL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Train = ediciones previas. Test = última encuesta 2025.2 (nunca vista).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—  Lineal simple: 0.13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—  Lineal múltiple: 0.22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—  Árbol: 0.20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—  Polinómica: 0.28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—  Random Forest: 0.27 (elegido)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9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05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RANDOM FOREST</a:t>
            </a:r>
            <a:endParaRPr/>
          </a:p>
        </p:txBody>
      </p:sp>
      <p:sp>
        <p:nvSpPr>
          <p:cNvPr id="323" name="Google Shape;323;p19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Por qué elegimos Random Forest</a:t>
            </a:r>
            <a:endParaRPr/>
          </a:p>
        </p:txBody>
      </p:sp>
      <p:sp>
        <p:nvSpPr>
          <p:cNvPr id="324" name="Google Shape;324;p19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9"/>
          <p:cNvSpPr txBox="1"/>
          <p:nvPr/>
        </p:nvSpPr>
        <p:spPr>
          <a:xfrm>
            <a:off x="658368" y="1874519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26" name="Google Shape;326;p19"/>
          <p:cNvSpPr txBox="1"/>
          <p:nvPr/>
        </p:nvSpPr>
        <p:spPr>
          <a:xfrm>
            <a:off x="1325880" y="1801368"/>
            <a:ext cx="10241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la par del mejor R²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empata con la polinómica en test (R²≈0.27); se elige por lo demás.</a:t>
            </a:r>
            <a:endParaRPr/>
          </a:p>
        </p:txBody>
      </p:sp>
      <p:sp>
        <p:nvSpPr>
          <p:cNvPr id="327" name="Google Shape;327;p19"/>
          <p:cNvSpPr/>
          <p:nvPr/>
        </p:nvSpPr>
        <p:spPr>
          <a:xfrm>
            <a:off x="640080" y="2724912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9"/>
          <p:cNvSpPr txBox="1"/>
          <p:nvPr/>
        </p:nvSpPr>
        <p:spPr>
          <a:xfrm>
            <a:off x="658368" y="2770632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29" name="Google Shape;329;p19"/>
          <p:cNvSpPr txBox="1"/>
          <p:nvPr/>
        </p:nvSpPr>
        <p:spPr>
          <a:xfrm>
            <a:off x="1325880" y="2697480"/>
            <a:ext cx="10241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Capta no linealidad e interacciones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sin ingeniería manual (p. ej. el plateau de la experiencia).</a:t>
            </a:r>
            <a:endParaRPr/>
          </a:p>
        </p:txBody>
      </p:sp>
      <p:sp>
        <p:nvSpPr>
          <p:cNvPr id="330" name="Google Shape;330;p19"/>
          <p:cNvSpPr/>
          <p:nvPr/>
        </p:nvSpPr>
        <p:spPr>
          <a:xfrm>
            <a:off x="640080" y="3621024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9"/>
          <p:cNvSpPr txBox="1"/>
          <p:nvPr/>
        </p:nvSpPr>
        <p:spPr>
          <a:xfrm>
            <a:off x="658368" y="3666744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32" name="Google Shape;332;p19"/>
          <p:cNvSpPr txBox="1"/>
          <p:nvPr/>
        </p:nvSpPr>
        <p:spPr>
          <a:xfrm>
            <a:off x="1325880" y="3593592"/>
            <a:ext cx="10241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Robusto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tolera outliers y mezcla de escalas; no necesita estandarizar.</a:t>
            </a:r>
            <a:endParaRPr/>
          </a:p>
        </p:txBody>
      </p:sp>
      <p:sp>
        <p:nvSpPr>
          <p:cNvPr id="333" name="Google Shape;333;p19"/>
          <p:cNvSpPr/>
          <p:nvPr/>
        </p:nvSpPr>
        <p:spPr>
          <a:xfrm>
            <a:off x="640080" y="4517136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658368" y="4562855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35" name="Google Shape;335;p19"/>
          <p:cNvSpPr txBox="1"/>
          <p:nvPr/>
        </p:nvSpPr>
        <p:spPr>
          <a:xfrm>
            <a:off x="1325880" y="4489703"/>
            <a:ext cx="10241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Sin overfitting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regularizado (profundidad y hojas mínimas): train ≈ test.</a:t>
            </a:r>
            <a:endParaRPr/>
          </a:p>
        </p:txBody>
      </p:sp>
      <p:sp>
        <p:nvSpPr>
          <p:cNvPr id="336" name="Google Shape;336;p19"/>
          <p:cNvSpPr/>
          <p:nvPr/>
        </p:nvSpPr>
        <p:spPr>
          <a:xfrm>
            <a:off x="640080" y="5413248"/>
            <a:ext cx="502920" cy="502920"/>
          </a:xfrm>
          <a:prstGeom prst="rect">
            <a:avLst/>
          </a:prstGeom>
          <a:solidFill>
            <a:srgbClr val="E6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9"/>
          <p:cNvSpPr txBox="1"/>
          <p:nvPr/>
        </p:nvSpPr>
        <p:spPr>
          <a:xfrm>
            <a:off x="658368" y="54589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A0A0A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338" name="Google Shape;338;p19"/>
          <p:cNvSpPr txBox="1"/>
          <p:nvPr/>
        </p:nvSpPr>
        <p:spPr>
          <a:xfrm>
            <a:off x="1325880" y="5385816"/>
            <a:ext cx="10241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Interpretable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entrega importancia de variables para la lectura de negocio.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05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K-MEANS</a:t>
            </a:r>
            <a:endParaRPr/>
          </a:p>
        </p:txBody>
      </p:sp>
      <p:sp>
        <p:nvSpPr>
          <p:cNvPr id="345" name="Google Shape;345;p20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Segmentación no supervisada</a:t>
            </a:r>
            <a:endParaRPr/>
          </a:p>
        </p:txBody>
      </p:sp>
      <p:pic>
        <p:nvPicPr>
          <p:cNvPr descr="clusters_bn.png" id="346" name="Google Shape;34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426026"/>
            <a:ext cx="7040880" cy="2646026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0"/>
          <p:cNvSpPr/>
          <p:nvPr/>
        </p:nvSpPr>
        <p:spPr>
          <a:xfrm>
            <a:off x="7772400" y="1828800"/>
            <a:ext cx="3931920" cy="411480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 txBox="1"/>
          <p:nvPr/>
        </p:nvSpPr>
        <p:spPr>
          <a:xfrm>
            <a:off x="8001000" y="2057400"/>
            <a:ext cx="347472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4 ARQUETIPOS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Junior remoto (49%) — $2,75M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Semi-senior dolarizado (21%) — $2,81M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Senior remoto (21%) — $4,43M · el mejor pago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Senior +15 corporativo estable (9%) — $4,01M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125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k=4 elegido con codo + silueta.</a:t>
            </a:r>
            <a:endParaRPr/>
          </a:p>
        </p:txBody>
      </p:sp>
      <p:sp>
        <p:nvSpPr>
          <p:cNvPr id="349" name="Google Shape;349;p20"/>
          <p:cNvSpPr txBox="1"/>
          <p:nvPr/>
        </p:nvSpPr>
        <p:spPr>
          <a:xfrm>
            <a:off x="457200" y="5897880"/>
            <a:ext cx="7223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8C8C8C"/>
                </a:solidFill>
                <a:latin typeface="Calibri"/>
                <a:ea typeface="Calibri"/>
                <a:cs typeface="Calibri"/>
                <a:sym typeface="Calibri"/>
              </a:rPr>
              <a:t>Nota: K-Means asigna cada punto a su centroide más cercano (verificado al 100%). Se ven solapados por la proyección 2D (muestra el 62% de la info) y porque los perfiles son un continuo — no por error del modelo.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2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06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RESULTADOS Y STORYTELLING</a:t>
            </a:r>
            <a:endParaRPr/>
          </a:p>
        </p:txBody>
      </p:sp>
      <p:sp>
        <p:nvSpPr>
          <p:cNvPr id="356" name="Google Shape;356;p22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Brechas salariales y región</a:t>
            </a:r>
            <a:endParaRPr/>
          </a:p>
        </p:txBody>
      </p:sp>
      <p:pic>
        <p:nvPicPr>
          <p:cNvPr descr="eda_05_geografia.png" id="357" name="Google Shape;35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7444" y="1737360"/>
            <a:ext cx="5566071" cy="4023360"/>
          </a:xfrm>
          <a:prstGeom prst="rect">
            <a:avLst/>
          </a:prstGeom>
          <a:noFill/>
          <a:ln>
            <a:noFill/>
          </a:ln>
        </p:spPr>
      </p:pic>
      <p:sp>
        <p:nvSpPr>
          <p:cNvPr id="358" name="Google Shape;358;p22"/>
          <p:cNvSpPr/>
          <p:nvPr/>
        </p:nvSpPr>
        <p:spPr>
          <a:xfrm>
            <a:off x="7406640" y="1783080"/>
            <a:ext cx="4297680" cy="420624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2"/>
          <p:cNvSpPr txBox="1"/>
          <p:nvPr/>
        </p:nvSpPr>
        <p:spPr>
          <a:xfrm>
            <a:off x="7680960" y="2011680"/>
            <a:ext cx="3749039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3×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brecha junior → senior: la experiencia manda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Brechas salariales: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liderazgo +0,19 (la mayor)  ·  remoto +43% en USD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Comparativa regional: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CABA +24%  ·  Patagonia (energía) destaca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1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Dolarización (H5): no dio más estabilidad.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3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06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RESULTADOS · COMPARATIVA INTERNACIONAL</a:t>
            </a:r>
            <a:endParaRPr/>
          </a:p>
        </p:txBody>
      </p:sp>
      <p:sp>
        <p:nvSpPr>
          <p:cNvPr id="366" name="Google Shape;366;p23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A0A0A"/>
                </a:solidFill>
                <a:latin typeface="Arial"/>
                <a:ea typeface="Arial"/>
                <a:cs typeface="Arial"/>
                <a:sym typeface="Arial"/>
              </a:rPr>
              <a:t>Argentina vs el mundo</a:t>
            </a:r>
            <a:endParaRPr/>
          </a:p>
        </p:txBody>
      </p:sp>
      <p:pic>
        <p:nvPicPr>
          <p:cNvPr descr="comparacion_mundo.png" id="367" name="Google Shape;36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60" y="2007196"/>
            <a:ext cx="7955279" cy="3849447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23"/>
          <p:cNvSpPr/>
          <p:nvPr/>
        </p:nvSpPr>
        <p:spPr>
          <a:xfrm>
            <a:off x="8412480" y="1828800"/>
            <a:ext cx="3291840" cy="4114800"/>
          </a:xfrm>
          <a:prstGeom prst="roundRect">
            <a:avLst>
              <a:gd fmla="val 16667" name="adj"/>
            </a:avLst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3"/>
          <p:cNvSpPr txBox="1"/>
          <p:nvPr/>
        </p:nvSpPr>
        <p:spPr>
          <a:xfrm>
            <a:off x="8641080" y="2057400"/>
            <a:ext cx="2880360" cy="3749039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STACK OVERFLOW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Argentina USD 3.333/mes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Arriba de Brasil, Ucrania e India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Abajo de Europa y EE.UU. (12.500)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E6FF00"/>
                </a:solidFill>
                <a:latin typeface="Calibri"/>
                <a:ea typeface="Calibri"/>
                <a:cs typeface="Calibri"/>
                <a:sym typeface="Calibri"/>
              </a:rPr>
              <a:t>Sysarmy mide USD 2.264: más conservador. Stack Overflow capta perfiles más internacionales / senior.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4"/>
          <p:cNvSpPr txBox="1"/>
          <p:nvPr/>
        </p:nvSpPr>
        <p:spPr>
          <a:xfrm>
            <a:off x="548640" y="3840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07  ·  </a:t>
            </a:r>
            <a:r>
              <a:rPr b="1" lang="en-US" sz="1300">
                <a:solidFill>
                  <a:srgbClr val="8C8C8C"/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  <a:endParaRPr/>
          </a:p>
        </p:txBody>
      </p:sp>
      <p:sp>
        <p:nvSpPr>
          <p:cNvPr id="376" name="Google Shape;376;p24"/>
          <p:cNvSpPr txBox="1"/>
          <p:nvPr/>
        </p:nvSpPr>
        <p:spPr>
          <a:xfrm>
            <a:off x="548640" y="86868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Hallazgos y valor estratégico</a:t>
            </a:r>
            <a:endParaRPr/>
          </a:p>
        </p:txBody>
      </p:sp>
      <p:sp>
        <p:nvSpPr>
          <p:cNvPr id="377" name="Google Shape;377;p24"/>
          <p:cNvSpPr txBox="1"/>
          <p:nvPr/>
        </p:nvSpPr>
        <p:spPr>
          <a:xfrm>
            <a:off x="548640" y="1783080"/>
            <a:ext cx="594360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Principales hallazgos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El perfil explica ~27% del sueldo: experiencia y liderazgo mandan.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Dolarizarse no dio más premium ni estabilidad.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CABA, grandes empresas y backend (Go/Rust) concentran lo mejor.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Pipeline 100% reproducible: fuentes crudas versionadas en parquet.</a:t>
            </a:r>
            <a:endParaRPr/>
          </a:p>
        </p:txBody>
      </p:sp>
      <p:sp>
        <p:nvSpPr>
          <p:cNvPr id="378" name="Google Shape;378;p24"/>
          <p:cNvSpPr/>
          <p:nvPr/>
        </p:nvSpPr>
        <p:spPr>
          <a:xfrm>
            <a:off x="6766560" y="1783080"/>
            <a:ext cx="4846320" cy="4480560"/>
          </a:xfrm>
          <a:prstGeom prst="roundRect">
            <a:avLst>
              <a:gd fmla="val 16667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4"/>
          <p:cNvSpPr txBox="1"/>
          <p:nvPr/>
        </p:nvSpPr>
        <p:spPr>
          <a:xfrm>
            <a:off x="7040880" y="2057400"/>
            <a:ext cx="42976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18275" lIns="45700" spcFirstLastPara="1" rIns="45700" wrap="square" tIns="18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E6FF00"/>
                </a:solidFill>
                <a:latin typeface="Arial"/>
                <a:ea typeface="Arial"/>
                <a:cs typeface="Arial"/>
                <a:sym typeface="Arial"/>
              </a:rPr>
              <a:t>Oportunidades y valor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Benchmarking salarial objetivo y por segmento.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Lectura del costo del talento frente a la macro.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Decisiones de oferta y retención basadas en datos.</a:t>
            </a:r>
            <a:endParaRPr/>
          </a:p>
          <a:p>
            <a:pPr indent="0" lvl="0" marL="0" marR="0" rtl="0" algn="l">
              <a:spcBef>
                <a:spcPts val="1100"/>
              </a:spcBef>
              <a:spcAft>
                <a:spcPts val="0"/>
              </a:spcAft>
              <a:buNone/>
            </a:pPr>
            <a:r>
              <a:rPr b="0" i="0" lang="en-US" sz="13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  Herramienta viva: se reentrena con cada edición.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