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y="6858000" cx="12191675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22" roundtripDataSignature="AMtx7miGTgjCvubT7DcRzrOdefMAVJgMr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22" Type="http://customschemas.google.com/relationships/presentationmetadata" Target="metadata"/><Relationship Id="rId10" Type="http://schemas.openxmlformats.org/officeDocument/2006/relationships/slide" Target="slides/slide5.xml"/><Relationship Id="rId21" Type="http://schemas.openxmlformats.org/officeDocument/2006/relationships/slide" Target="slides/slide16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" name="Google Shape;90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" name="Google Shape;108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3" name="Google Shape;173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3" name="Google Shape;183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4" name="Google Shape;204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4" name="Google Shape;254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3" name="Google Shape;263;p1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6" name="Google Shape;276;p1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1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9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9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1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2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20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2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2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2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1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21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2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2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2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22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22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2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2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2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23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23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23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23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2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2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2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2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5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5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25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2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2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2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6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6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6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2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2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7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2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2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8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8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7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Relationship Id="rId4" Type="http://schemas.openxmlformats.org/officeDocument/2006/relationships/image" Target="../media/image9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A4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"/>
          <p:cNvSpPr/>
          <p:nvPr/>
        </p:nvSpPr>
        <p:spPr>
          <a:xfrm>
            <a:off x="0" y="0"/>
            <a:ext cx="320040" cy="6858000"/>
          </a:xfrm>
          <a:prstGeom prst="roundRect">
            <a:avLst>
              <a:gd fmla="val 16667" name="adj"/>
            </a:avLst>
          </a:prstGeom>
          <a:solidFill>
            <a:srgbClr val="02809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"/>
          <p:cNvSpPr txBox="1"/>
          <p:nvPr/>
        </p:nvSpPr>
        <p:spPr>
          <a:xfrm>
            <a:off x="914400" y="2011680"/>
            <a:ext cx="10332720" cy="237744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Mercado Laboral Tech Argentino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rgbClr val="02C39A"/>
                </a:solidFill>
                <a:latin typeface="Calibri"/>
                <a:ea typeface="Calibri"/>
                <a:cs typeface="Calibri"/>
                <a:sym typeface="Calibri"/>
              </a:rPr>
              <a:t>Análisis y predicción de salarios del sector IT</a:t>
            </a:r>
            <a:endParaRPr/>
          </a:p>
          <a:p>
            <a:pPr indent="0" lvl="0" marL="0" marR="0" rtl="0" algn="l">
              <a:spcBef>
                <a:spcPts val="18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Pipeline de datos · EDA · Random Forest · Segmentación (K-Means)</a:t>
            </a:r>
            <a:endParaRPr/>
          </a:p>
        </p:txBody>
      </p:sp>
      <p:sp>
        <p:nvSpPr>
          <p:cNvPr id="87" name="Google Shape;87;p1"/>
          <p:cNvSpPr txBox="1"/>
          <p:nvPr/>
        </p:nvSpPr>
        <p:spPr>
          <a:xfrm>
            <a:off x="914400" y="5760720"/>
            <a:ext cx="1033272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9FB3C8"/>
                </a:solidFill>
                <a:latin typeface="Calibri"/>
                <a:ea typeface="Calibri"/>
                <a:cs typeface="Calibri"/>
                <a:sym typeface="Calibri"/>
              </a:rPr>
              <a:t>Trabajo Práctico Obligatorio — Minería de Datos  |  Base: Sysarmy 2022–2025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2"/>
          <p:cNvSpPr txBox="1"/>
          <p:nvPr/>
        </p:nvSpPr>
        <p:spPr>
          <a:xfrm>
            <a:off x="548640" y="411480"/>
            <a:ext cx="1106424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222B33"/>
                </a:solidFill>
                <a:latin typeface="Calibri"/>
                <a:ea typeface="Calibri"/>
                <a:cs typeface="Calibri"/>
                <a:sym typeface="Calibri"/>
              </a:rPr>
              <a:t>Dominio y problemática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1" lang="en-US" sz="1500" u="none" cap="none" strike="noStrike">
                <a:solidFill>
                  <a:srgbClr val="667380"/>
                </a:solidFill>
                <a:latin typeface="Calibri"/>
                <a:ea typeface="Calibri"/>
                <a:cs typeface="Calibri"/>
                <a:sym typeface="Calibri"/>
              </a:rPr>
              <a:t>Mercado laboral tech argentino</a:t>
            </a:r>
            <a:endParaRPr/>
          </a:p>
        </p:txBody>
      </p:sp>
      <p:sp>
        <p:nvSpPr>
          <p:cNvPr id="94" name="Google Shape;94;p2"/>
          <p:cNvSpPr txBox="1"/>
          <p:nvPr/>
        </p:nvSpPr>
        <p:spPr>
          <a:xfrm>
            <a:off x="548640" y="1554480"/>
            <a:ext cx="5852160" cy="448056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28090"/>
                </a:solidFill>
                <a:latin typeface="Calibri"/>
                <a:ea typeface="Calibri"/>
                <a:cs typeface="Calibri"/>
                <a:sym typeface="Calibri"/>
              </a:rPr>
              <a:t>El contexto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22B33"/>
                </a:solidFill>
                <a:latin typeface="Calibri"/>
                <a:ea typeface="Calibri"/>
                <a:cs typeface="Calibri"/>
                <a:sym typeface="Calibri"/>
              </a:rPr>
              <a:t>•  Sector IT dinámico, con alta rotación y fuerte demanda internacional.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22B33"/>
                </a:solidFill>
                <a:latin typeface="Calibri"/>
                <a:ea typeface="Calibri"/>
                <a:cs typeface="Calibri"/>
                <a:sym typeface="Calibri"/>
              </a:rPr>
              <a:t>•  Salarios atados a una macro volátil: 10× de inflación en 3 años y un dólar que se cuadruplicó.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22B33"/>
                </a:solidFill>
                <a:latin typeface="Calibri"/>
                <a:ea typeface="Calibri"/>
                <a:cs typeface="Calibri"/>
                <a:sym typeface="Calibri"/>
              </a:rPr>
              <a:t>•  No existe información integrada y comparable en el tiempo: cada encuesta usa otra moneda y otro nivel de precios.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28090"/>
                </a:solidFill>
                <a:latin typeface="Calibri"/>
                <a:ea typeface="Calibri"/>
                <a:cs typeface="Calibri"/>
                <a:sym typeface="Calibri"/>
              </a:rPr>
              <a:t>Hipótesis central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1" lang="en-US" sz="1500" u="none" cap="none" strike="noStrike">
                <a:solidFill>
                  <a:srgbClr val="222B33"/>
                </a:solidFill>
                <a:latin typeface="Calibri"/>
                <a:ea typeface="Calibri"/>
                <a:cs typeface="Calibri"/>
                <a:sym typeface="Calibri"/>
              </a:rPr>
              <a:t>El sueldo real de un profesional tech está determinado por su perfil (rol, experiencia, tecnologías) y su contexto (provincia, modalidad), una vez ajustado por el contexto macroeconómico.</a:t>
            </a:r>
            <a:endParaRPr/>
          </a:p>
        </p:txBody>
      </p:sp>
      <p:sp>
        <p:nvSpPr>
          <p:cNvPr id="95" name="Google Shape;95;p2"/>
          <p:cNvSpPr/>
          <p:nvPr/>
        </p:nvSpPr>
        <p:spPr>
          <a:xfrm>
            <a:off x="6766560" y="1645920"/>
            <a:ext cx="4846320" cy="4206240"/>
          </a:xfrm>
          <a:prstGeom prst="roundRect">
            <a:avLst>
              <a:gd fmla="val 16667" name="adj"/>
            </a:avLst>
          </a:prstGeom>
          <a:solidFill>
            <a:srgbClr val="F4F7F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2"/>
          <p:cNvSpPr txBox="1"/>
          <p:nvPr/>
        </p:nvSpPr>
        <p:spPr>
          <a:xfrm>
            <a:off x="7040880" y="1828800"/>
            <a:ext cx="4297680" cy="393192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162A4A"/>
                </a:solidFill>
                <a:latin typeface="Calibri"/>
                <a:ea typeface="Calibri"/>
                <a:cs typeface="Calibri"/>
                <a:sym typeface="Calibri"/>
              </a:rPr>
              <a:t>Hipótesis a testear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222B33"/>
                </a:solidFill>
                <a:latin typeface="Calibri"/>
                <a:ea typeface="Calibri"/>
                <a:cs typeface="Calibri"/>
                <a:sym typeface="Calibri"/>
              </a:rPr>
              <a:t>•  H1 · Seniority es el factor más predictivo</a:t>
            </a:r>
            <a:endParaRPr/>
          </a:p>
          <a:p>
            <a:pPr indent="0" lvl="0" marL="0" marR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222B33"/>
                </a:solidFill>
                <a:latin typeface="Calibri"/>
                <a:ea typeface="Calibri"/>
                <a:cs typeface="Calibri"/>
                <a:sym typeface="Calibri"/>
              </a:rPr>
              <a:t>•  H2 · La experiencia tiene rendimientos decrecientes</a:t>
            </a:r>
            <a:endParaRPr/>
          </a:p>
          <a:p>
            <a:pPr indent="0" lvl="0" marL="0" marR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222B33"/>
                </a:solidFill>
                <a:latin typeface="Calibri"/>
                <a:ea typeface="Calibri"/>
                <a:cs typeface="Calibri"/>
                <a:sym typeface="Calibri"/>
              </a:rPr>
              <a:t>•  H3 · Hay tecnologías con premium salarial</a:t>
            </a:r>
            <a:endParaRPr/>
          </a:p>
          <a:p>
            <a:pPr indent="0" lvl="0" marL="0" marR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222B33"/>
                </a:solidFill>
                <a:latin typeface="Calibri"/>
                <a:ea typeface="Calibri"/>
                <a:cs typeface="Calibri"/>
                <a:sym typeface="Calibri"/>
              </a:rPr>
              <a:t>•  H4 · Geografía: CABA paga más, pero menos de lo esperado</a:t>
            </a:r>
            <a:endParaRPr/>
          </a:p>
          <a:p>
            <a:pPr indent="0" lvl="0" marL="0" marR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222B33"/>
                </a:solidFill>
                <a:latin typeface="Calibri"/>
                <a:ea typeface="Calibri"/>
                <a:cs typeface="Calibri"/>
                <a:sym typeface="Calibri"/>
              </a:rPr>
              <a:t>•  H5 · Nominal ≠ poder adquisitivo real</a:t>
            </a:r>
            <a:endParaRPr/>
          </a:p>
          <a:p>
            <a:pPr indent="0" lvl="0" marL="0" marR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222B33"/>
                </a:solidFill>
                <a:latin typeface="Calibri"/>
                <a:ea typeface="Calibri"/>
                <a:cs typeface="Calibri"/>
                <a:sym typeface="Calibri"/>
              </a:rPr>
              <a:t>•  H6 · Cobrar en USD da más estabilidad</a:t>
            </a:r>
            <a:endParaRPr/>
          </a:p>
          <a:p>
            <a:pPr indent="0" lvl="0" marL="0" marR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222B33"/>
                </a:solidFill>
                <a:latin typeface="Calibri"/>
                <a:ea typeface="Calibri"/>
                <a:cs typeface="Calibri"/>
                <a:sym typeface="Calibri"/>
              </a:rPr>
              <a:t>•  H7 · El ITCRM mueve los sueldos en dólares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3"/>
          <p:cNvSpPr txBox="1"/>
          <p:nvPr/>
        </p:nvSpPr>
        <p:spPr>
          <a:xfrm>
            <a:off x="548640" y="411480"/>
            <a:ext cx="1106424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222B33"/>
                </a:solidFill>
                <a:latin typeface="Calibri"/>
                <a:ea typeface="Calibri"/>
                <a:cs typeface="Calibri"/>
                <a:sym typeface="Calibri"/>
              </a:rPr>
              <a:t>Propuesta y valor para el negocio</a:t>
            </a:r>
            <a:endParaRPr/>
          </a:p>
        </p:txBody>
      </p:sp>
      <p:sp>
        <p:nvSpPr>
          <p:cNvPr id="103" name="Google Shape;103;p3"/>
          <p:cNvSpPr txBox="1"/>
          <p:nvPr/>
        </p:nvSpPr>
        <p:spPr>
          <a:xfrm>
            <a:off x="548640" y="1554480"/>
            <a:ext cx="5394960" cy="438912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28090"/>
                </a:solidFill>
                <a:latin typeface="Calibri"/>
                <a:ea typeface="Calibri"/>
                <a:cs typeface="Calibri"/>
                <a:sym typeface="Calibri"/>
              </a:rPr>
              <a:t>Qué construimos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22B33"/>
                </a:solidFill>
                <a:latin typeface="Calibri"/>
                <a:ea typeface="Calibri"/>
                <a:cs typeface="Calibri"/>
                <a:sym typeface="Calibri"/>
              </a:rPr>
              <a:t>•  Un pipeline reproducible que unifica 6 ediciones de Sysarmy con 8 series macro.</a:t>
            </a:r>
            <a:endParaRPr/>
          </a:p>
          <a:p>
            <a:pPr indent="0" lvl="0" marL="0" marR="0" rtl="0" algn="l">
              <a:spcBef>
                <a:spcPts val="11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22B33"/>
                </a:solidFill>
                <a:latin typeface="Calibri"/>
                <a:ea typeface="Calibri"/>
                <a:cs typeface="Calibri"/>
                <a:sym typeface="Calibri"/>
              </a:rPr>
              <a:t>•  Un dataset único, limpio y comparable en el tiempo (pesos y dólares reales).</a:t>
            </a:r>
            <a:endParaRPr/>
          </a:p>
          <a:p>
            <a:pPr indent="0" lvl="0" marL="0" marR="0" rtl="0" algn="l">
              <a:spcBef>
                <a:spcPts val="11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22B33"/>
                </a:solidFill>
                <a:latin typeface="Calibri"/>
                <a:ea typeface="Calibri"/>
                <a:cs typeface="Calibri"/>
                <a:sym typeface="Calibri"/>
              </a:rPr>
              <a:t>•  Modelos predictivos y de segmentación, más una app web interactiva.</a:t>
            </a:r>
            <a:endParaRPr/>
          </a:p>
          <a:p>
            <a:pPr indent="0" lvl="0" marL="0" marR="0" rtl="0" algn="l">
              <a:spcBef>
                <a:spcPts val="110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28090"/>
                </a:solidFill>
                <a:latin typeface="Calibri"/>
                <a:ea typeface="Calibri"/>
                <a:cs typeface="Calibri"/>
                <a:sym typeface="Calibri"/>
              </a:rPr>
              <a:t>Valor para la gerencia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22B33"/>
                </a:solidFill>
                <a:latin typeface="Calibri"/>
                <a:ea typeface="Calibri"/>
                <a:cs typeface="Calibri"/>
                <a:sym typeface="Calibri"/>
              </a:rPr>
              <a:t>•  Benchmarking salarial objetivo para ofertas y retención.</a:t>
            </a:r>
            <a:endParaRPr/>
          </a:p>
          <a:p>
            <a:pPr indent="0" lvl="0" marL="0" marR="0" rtl="0" algn="l">
              <a:spcBef>
                <a:spcPts val="11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22B33"/>
                </a:solidFill>
                <a:latin typeface="Calibri"/>
                <a:ea typeface="Calibri"/>
                <a:cs typeface="Calibri"/>
                <a:sym typeface="Calibri"/>
              </a:rPr>
              <a:t>•  Detección de brechas y de los factores que mueven el sueldo.</a:t>
            </a:r>
            <a:endParaRPr/>
          </a:p>
          <a:p>
            <a:pPr indent="0" lvl="0" marL="0" marR="0" rtl="0" algn="l">
              <a:spcBef>
                <a:spcPts val="11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22B33"/>
                </a:solidFill>
                <a:latin typeface="Calibri"/>
                <a:ea typeface="Calibri"/>
                <a:cs typeface="Calibri"/>
                <a:sym typeface="Calibri"/>
              </a:rPr>
              <a:t>•  Lectura del impacto macro (inflación y dólar) sobre el costo del talento.</a:t>
            </a:r>
            <a:endParaRPr/>
          </a:p>
        </p:txBody>
      </p:sp>
      <p:sp>
        <p:nvSpPr>
          <p:cNvPr id="104" name="Google Shape;104;p3"/>
          <p:cNvSpPr/>
          <p:nvPr/>
        </p:nvSpPr>
        <p:spPr>
          <a:xfrm>
            <a:off x="6309360" y="1645920"/>
            <a:ext cx="5303520" cy="4206240"/>
          </a:xfrm>
          <a:prstGeom prst="roundRect">
            <a:avLst>
              <a:gd fmla="val 16667" name="adj"/>
            </a:avLst>
          </a:prstGeom>
          <a:solidFill>
            <a:srgbClr val="162A4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3"/>
          <p:cNvSpPr txBox="1"/>
          <p:nvPr/>
        </p:nvSpPr>
        <p:spPr>
          <a:xfrm>
            <a:off x="6583680" y="1874519"/>
            <a:ext cx="4754880" cy="384048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02C39A"/>
                </a:solidFill>
                <a:latin typeface="Calibri"/>
                <a:ea typeface="Calibri"/>
                <a:cs typeface="Calibri"/>
                <a:sym typeface="Calibri"/>
              </a:rPr>
              <a:t>9 fuentes integradas</a:t>
            </a:r>
            <a:endParaRPr/>
          </a:p>
          <a:p>
            <a:pPr indent="0" lvl="0" marL="0" marR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•  Sysarmy — 6 ediciones (31.088 respuestas)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•  IPC INDEC — inflación argentina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•  Dólar MEP (Blue) — tipo de cambio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•  US CPI (FRED) — inflación de EE.UU.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•  CBT — canasta básica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•  RIPTE — salario formal promedio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•  Big Mac Index, ITCRM (BCRA)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•  Stack Overflow — benchmark internacional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4"/>
          <p:cNvSpPr txBox="1"/>
          <p:nvPr/>
        </p:nvSpPr>
        <p:spPr>
          <a:xfrm>
            <a:off x="548640" y="411480"/>
            <a:ext cx="1106424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222B33"/>
                </a:solidFill>
                <a:latin typeface="Calibri"/>
                <a:ea typeface="Calibri"/>
                <a:cs typeface="Calibri"/>
                <a:sym typeface="Calibri"/>
              </a:rPr>
              <a:t>Arquitectura de la solución — Pipeline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1" lang="en-US" sz="1500" u="none" cap="none" strike="noStrike">
                <a:solidFill>
                  <a:srgbClr val="667380"/>
                </a:solidFill>
                <a:latin typeface="Calibri"/>
                <a:ea typeface="Calibri"/>
                <a:cs typeface="Calibri"/>
                <a:sym typeface="Calibri"/>
              </a:rPr>
              <a:t>Flujo de datos extremo a extremo</a:t>
            </a:r>
            <a:endParaRPr/>
          </a:p>
        </p:txBody>
      </p:sp>
      <p:sp>
        <p:nvSpPr>
          <p:cNvPr id="112" name="Google Shape;112;p4"/>
          <p:cNvSpPr/>
          <p:nvPr/>
        </p:nvSpPr>
        <p:spPr>
          <a:xfrm>
            <a:off x="640080" y="2011680"/>
            <a:ext cx="2514600" cy="2011680"/>
          </a:xfrm>
          <a:prstGeom prst="roundRect">
            <a:avLst>
              <a:gd fmla="val 16667" name="adj"/>
            </a:avLst>
          </a:prstGeom>
          <a:solidFill>
            <a:srgbClr val="02809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4"/>
          <p:cNvSpPr txBox="1"/>
          <p:nvPr/>
        </p:nvSpPr>
        <p:spPr>
          <a:xfrm>
            <a:off x="777240" y="2194560"/>
            <a:ext cx="224028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Descarga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descargar_datos.py</a:t>
            </a:r>
            <a:br>
              <a:rPr b="0" i="0" lang="en-US" sz="11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1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9 fuentes → data/raw</a:t>
            </a:r>
            <a:endParaRPr/>
          </a:p>
        </p:txBody>
      </p:sp>
      <p:sp>
        <p:nvSpPr>
          <p:cNvPr id="114" name="Google Shape;114;p4"/>
          <p:cNvSpPr/>
          <p:nvPr/>
        </p:nvSpPr>
        <p:spPr>
          <a:xfrm>
            <a:off x="3182111" y="2788920"/>
            <a:ext cx="320040" cy="4572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66738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4"/>
          <p:cNvSpPr/>
          <p:nvPr/>
        </p:nvSpPr>
        <p:spPr>
          <a:xfrm>
            <a:off x="3474720" y="2011680"/>
            <a:ext cx="2514600" cy="2011680"/>
          </a:xfrm>
          <a:prstGeom prst="roundRect">
            <a:avLst>
              <a:gd fmla="val 16667" name="adj"/>
            </a:avLst>
          </a:prstGeom>
          <a:solidFill>
            <a:srgbClr val="1C729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4"/>
          <p:cNvSpPr txBox="1"/>
          <p:nvPr/>
        </p:nvSpPr>
        <p:spPr>
          <a:xfrm>
            <a:off x="3611879" y="2194560"/>
            <a:ext cx="224028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Limpieza + Unificación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limpiar_y_unificar_datos.py</a:t>
            </a:r>
            <a:br>
              <a:rPr b="0" i="0" lang="en-US" sz="11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1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6 ediciones armonizadas</a:t>
            </a:r>
            <a:endParaRPr/>
          </a:p>
        </p:txBody>
      </p:sp>
      <p:sp>
        <p:nvSpPr>
          <p:cNvPr id="117" name="Google Shape;117;p4"/>
          <p:cNvSpPr/>
          <p:nvPr/>
        </p:nvSpPr>
        <p:spPr>
          <a:xfrm>
            <a:off x="6016752" y="2788920"/>
            <a:ext cx="320040" cy="4572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66738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4"/>
          <p:cNvSpPr/>
          <p:nvPr/>
        </p:nvSpPr>
        <p:spPr>
          <a:xfrm>
            <a:off x="6309360" y="2011680"/>
            <a:ext cx="2514600" cy="2011680"/>
          </a:xfrm>
          <a:prstGeom prst="roundRect">
            <a:avLst>
              <a:gd fmla="val 16667" name="adj"/>
            </a:avLst>
          </a:prstGeom>
          <a:solidFill>
            <a:srgbClr val="02C39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4"/>
          <p:cNvSpPr txBox="1"/>
          <p:nvPr/>
        </p:nvSpPr>
        <p:spPr>
          <a:xfrm>
            <a:off x="6446520" y="2194560"/>
            <a:ext cx="224028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Ajuste real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Pesos por IPC · USD por US CPI</a:t>
            </a:r>
            <a:br>
              <a:rPr b="0" i="0" lang="en-US" sz="11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1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Base: mayo 2026</a:t>
            </a:r>
            <a:endParaRPr/>
          </a:p>
        </p:txBody>
      </p:sp>
      <p:sp>
        <p:nvSpPr>
          <p:cNvPr id="120" name="Google Shape;120;p4"/>
          <p:cNvSpPr/>
          <p:nvPr/>
        </p:nvSpPr>
        <p:spPr>
          <a:xfrm>
            <a:off x="8851392" y="2788920"/>
            <a:ext cx="320040" cy="4572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66738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4"/>
          <p:cNvSpPr/>
          <p:nvPr/>
        </p:nvSpPr>
        <p:spPr>
          <a:xfrm>
            <a:off x="9144000" y="2011680"/>
            <a:ext cx="2514600" cy="2011680"/>
          </a:xfrm>
          <a:prstGeom prst="roundRect">
            <a:avLst>
              <a:gd fmla="val 16667" name="adj"/>
            </a:avLst>
          </a:prstGeom>
          <a:solidFill>
            <a:srgbClr val="F2B83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4"/>
          <p:cNvSpPr txBox="1"/>
          <p:nvPr/>
        </p:nvSpPr>
        <p:spPr>
          <a:xfrm>
            <a:off x="9281160" y="2194560"/>
            <a:ext cx="224028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Dataset final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31.088 × 17</a:t>
            </a:r>
            <a:br>
              <a:rPr b="0" i="0" lang="en-US" sz="11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1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+ contexto macro</a:t>
            </a:r>
            <a:endParaRPr/>
          </a:p>
        </p:txBody>
      </p:sp>
      <p:sp>
        <p:nvSpPr>
          <p:cNvPr id="123" name="Google Shape;123;p4"/>
          <p:cNvSpPr txBox="1"/>
          <p:nvPr/>
        </p:nvSpPr>
        <p:spPr>
          <a:xfrm>
            <a:off x="640080" y="4389120"/>
            <a:ext cx="10881360" cy="164592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62A4A"/>
                </a:solidFill>
                <a:latin typeface="Calibri"/>
                <a:ea typeface="Calibri"/>
                <a:cs typeface="Calibri"/>
                <a:sym typeface="Calibri"/>
              </a:rPr>
              <a:t>Salidas: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222B33"/>
                </a:solidFill>
                <a:latin typeface="Calibri"/>
                <a:ea typeface="Calibri"/>
                <a:cs typeface="Calibri"/>
                <a:sym typeface="Calibri"/>
              </a:rPr>
              <a:t>•  dataset_final_mercado_laboral.parquet  ·  contexto_macroeconomico.parquet  (FK fecha_edicion)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222B33"/>
                </a:solidFill>
                <a:latin typeface="Calibri"/>
                <a:ea typeface="Calibri"/>
                <a:cs typeface="Calibri"/>
                <a:sym typeface="Calibri"/>
              </a:rPr>
              <a:t>•  EDA (12 láminas)  ·  modelos (Random Forest + K-Means)  ·  app Streamlit (ES/ARS y EN/USD)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5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5"/>
          <p:cNvSpPr txBox="1"/>
          <p:nvPr/>
        </p:nvSpPr>
        <p:spPr>
          <a:xfrm>
            <a:off x="548640" y="411480"/>
            <a:ext cx="1106424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222B33"/>
                </a:solidFill>
                <a:latin typeface="Calibri"/>
                <a:ea typeface="Calibri"/>
                <a:cs typeface="Calibri"/>
                <a:sym typeface="Calibri"/>
              </a:rPr>
              <a:t>EDA — Distribución de salarios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1" lang="en-US" sz="1500" u="none" cap="none" strike="noStrike">
                <a:solidFill>
                  <a:srgbClr val="667380"/>
                </a:solidFill>
                <a:latin typeface="Calibri"/>
                <a:ea typeface="Calibri"/>
                <a:cs typeface="Calibri"/>
                <a:sym typeface="Calibri"/>
              </a:rPr>
              <a:t>Todo en moneda real de mayo 2026</a:t>
            </a:r>
            <a:endParaRPr/>
          </a:p>
        </p:txBody>
      </p:sp>
      <p:pic>
        <p:nvPicPr>
          <p:cNvPr descr="distribucion_salarios.png" id="130" name="Google Shape;130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48640" y="2458382"/>
            <a:ext cx="8229600" cy="3038515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5"/>
          <p:cNvSpPr txBox="1"/>
          <p:nvPr/>
        </p:nvSpPr>
        <p:spPr>
          <a:xfrm>
            <a:off x="8961120" y="1828800"/>
            <a:ext cx="2743200" cy="420624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5"/>
          <p:cNvSpPr txBox="1"/>
          <p:nvPr/>
        </p:nvSpPr>
        <p:spPr>
          <a:xfrm>
            <a:off x="8869680" y="1828800"/>
            <a:ext cx="283464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000">
                <a:solidFill>
                  <a:srgbClr val="028090"/>
                </a:solidFill>
                <a:latin typeface="Calibri"/>
                <a:ea typeface="Calibri"/>
                <a:cs typeface="Calibri"/>
                <a:sym typeface="Calibri"/>
              </a:rPr>
              <a:t>$3,19M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>
                <a:solidFill>
                  <a:srgbClr val="667380"/>
                </a:solidFill>
                <a:latin typeface="Calibri"/>
                <a:ea typeface="Calibri"/>
                <a:cs typeface="Calibri"/>
                <a:sym typeface="Calibri"/>
              </a:rPr>
              <a:t>Salario mediano (ARS)</a:t>
            </a:r>
            <a:endParaRPr/>
          </a:p>
        </p:txBody>
      </p:sp>
      <p:sp>
        <p:nvSpPr>
          <p:cNvPr id="133" name="Google Shape;133;p5"/>
          <p:cNvSpPr txBox="1"/>
          <p:nvPr/>
        </p:nvSpPr>
        <p:spPr>
          <a:xfrm>
            <a:off x="8869680" y="3291840"/>
            <a:ext cx="283464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000">
                <a:solidFill>
                  <a:srgbClr val="028090"/>
                </a:solidFill>
                <a:latin typeface="Calibri"/>
                <a:ea typeface="Calibri"/>
                <a:cs typeface="Calibri"/>
                <a:sym typeface="Calibri"/>
              </a:rPr>
              <a:t>USD 2.264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>
                <a:solidFill>
                  <a:srgbClr val="667380"/>
                </a:solidFill>
                <a:latin typeface="Calibri"/>
                <a:ea typeface="Calibri"/>
                <a:cs typeface="Calibri"/>
                <a:sym typeface="Calibri"/>
              </a:rPr>
              <a:t>Salario mediano (USD)</a:t>
            </a:r>
            <a:endParaRPr/>
          </a:p>
        </p:txBody>
      </p:sp>
      <p:sp>
        <p:nvSpPr>
          <p:cNvPr id="134" name="Google Shape;134;p5"/>
          <p:cNvSpPr txBox="1"/>
          <p:nvPr/>
        </p:nvSpPr>
        <p:spPr>
          <a:xfrm>
            <a:off x="8869680" y="4754880"/>
            <a:ext cx="283464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000">
                <a:solidFill>
                  <a:srgbClr val="028090"/>
                </a:solidFill>
                <a:latin typeface="Calibri"/>
                <a:ea typeface="Calibri"/>
                <a:cs typeface="Calibri"/>
                <a:sym typeface="Calibri"/>
              </a:rPr>
              <a:t>31.088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>
                <a:solidFill>
                  <a:srgbClr val="667380"/>
                </a:solidFill>
                <a:latin typeface="Calibri"/>
                <a:ea typeface="Calibri"/>
                <a:cs typeface="Calibri"/>
                <a:sym typeface="Calibri"/>
              </a:rPr>
              <a:t>Profesionales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6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6"/>
          <p:cNvSpPr txBox="1"/>
          <p:nvPr/>
        </p:nvSpPr>
        <p:spPr>
          <a:xfrm>
            <a:off x="548640" y="411480"/>
            <a:ext cx="1106424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>
                <a:solidFill>
                  <a:srgbClr val="222B33"/>
                </a:solidFill>
                <a:latin typeface="Calibri"/>
                <a:ea typeface="Calibri"/>
                <a:cs typeface="Calibri"/>
                <a:sym typeface="Calibri"/>
              </a:rPr>
              <a:t>EDA — Seniority, modalidad y provincias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1" lang="en-US" sz="1500">
                <a:solidFill>
                  <a:srgbClr val="667380"/>
                </a:solidFill>
                <a:latin typeface="Calibri"/>
                <a:ea typeface="Calibri"/>
                <a:cs typeface="Calibri"/>
                <a:sym typeface="Calibri"/>
              </a:rPr>
              <a:t>H1 y H4</a:t>
            </a:r>
            <a:endParaRPr/>
          </a:p>
        </p:txBody>
      </p:sp>
      <p:pic>
        <p:nvPicPr>
          <p:cNvPr descr="eda_02_seniority.png" id="141" name="Google Shape;141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1611078"/>
            <a:ext cx="5669280" cy="4093043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eda_05_geografia.png" id="142" name="Google Shape;142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217920" y="1641666"/>
            <a:ext cx="5577840" cy="4031866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6"/>
          <p:cNvSpPr txBox="1"/>
          <p:nvPr/>
        </p:nvSpPr>
        <p:spPr>
          <a:xfrm>
            <a:off x="548640" y="5806440"/>
            <a:ext cx="111556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350">
                <a:solidFill>
                  <a:srgbClr val="222B33"/>
                </a:solidFill>
                <a:latin typeface="Calibri"/>
                <a:ea typeface="Calibri"/>
                <a:cs typeface="Calibri"/>
                <a:sym typeface="Calibri"/>
              </a:rPr>
              <a:t>Seniority casi sin solapamiento (jr $1,8M → sr $4,3M).  CABA paga +24% vs interior — pero menos de lo que se cree.  Remoto +43% en USD vs presencial.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7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7"/>
          <p:cNvSpPr txBox="1"/>
          <p:nvPr/>
        </p:nvSpPr>
        <p:spPr>
          <a:xfrm>
            <a:off x="548640" y="411480"/>
            <a:ext cx="1106424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>
                <a:solidFill>
                  <a:srgbClr val="222B33"/>
                </a:solidFill>
                <a:latin typeface="Calibri"/>
                <a:ea typeface="Calibri"/>
                <a:cs typeface="Calibri"/>
                <a:sym typeface="Calibri"/>
              </a:rPr>
              <a:t>EDA — Tecnologías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1" lang="en-US" sz="1500">
                <a:solidFill>
                  <a:srgbClr val="667380"/>
                </a:solidFill>
                <a:latin typeface="Calibri"/>
                <a:ea typeface="Calibri"/>
                <a:cs typeface="Calibri"/>
                <a:sym typeface="Calibri"/>
              </a:rPr>
              <a:t>H3: premium por stack</a:t>
            </a:r>
            <a:endParaRPr/>
          </a:p>
        </p:txBody>
      </p:sp>
      <p:pic>
        <p:nvPicPr>
          <p:cNvPr descr="eda_04_tecnologias.png" id="150" name="Google Shape;150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46709" y="1554480"/>
            <a:ext cx="6210500" cy="4480560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p7"/>
          <p:cNvSpPr/>
          <p:nvPr/>
        </p:nvSpPr>
        <p:spPr>
          <a:xfrm>
            <a:off x="8321040" y="1737360"/>
            <a:ext cx="3383280" cy="4114800"/>
          </a:xfrm>
          <a:prstGeom prst="roundRect">
            <a:avLst>
              <a:gd fmla="val 16667" name="adj"/>
            </a:avLst>
          </a:prstGeom>
          <a:solidFill>
            <a:srgbClr val="F4F7F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7"/>
          <p:cNvSpPr txBox="1"/>
          <p:nvPr/>
        </p:nvSpPr>
        <p:spPr>
          <a:xfrm>
            <a:off x="8549640" y="1920240"/>
            <a:ext cx="2926080" cy="384048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>
                <a:solidFill>
                  <a:srgbClr val="028090"/>
                </a:solidFill>
                <a:latin typeface="Calibri"/>
                <a:ea typeface="Calibri"/>
                <a:cs typeface="Calibri"/>
                <a:sym typeface="Calibri"/>
              </a:rPr>
              <a:t>Hallazgo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350">
                <a:solidFill>
                  <a:srgbClr val="222B33"/>
                </a:solidFill>
                <a:latin typeface="Calibri"/>
                <a:ea typeface="Calibri"/>
                <a:cs typeface="Calibri"/>
                <a:sym typeface="Calibri"/>
              </a:rPr>
              <a:t>El premium no lo da la cantidad de tecnologías, sino cuáles: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300">
                <a:solidFill>
                  <a:srgbClr val="222B33"/>
                </a:solidFill>
                <a:latin typeface="Calibri"/>
                <a:ea typeface="Calibri"/>
                <a:cs typeface="Calibri"/>
                <a:sym typeface="Calibri"/>
              </a:rPr>
              <a:t>•  Go +45% · Rust +48% · Scala +42%</a:t>
            </a:r>
            <a:endParaRPr/>
          </a:p>
          <a:p>
            <a:pPr indent="0" lvl="0" marL="0" marR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0" i="0" lang="en-US" sz="1300">
                <a:solidFill>
                  <a:srgbClr val="222B33"/>
                </a:solidFill>
                <a:latin typeface="Calibri"/>
                <a:ea typeface="Calibri"/>
                <a:cs typeface="Calibri"/>
                <a:sym typeface="Calibri"/>
              </a:rPr>
              <a:t>•  Python +13%</a:t>
            </a:r>
            <a:endParaRPr/>
          </a:p>
          <a:p>
            <a:pPr indent="0" lvl="0" marL="0" marR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0" i="0" lang="en-US" sz="1300">
                <a:solidFill>
                  <a:srgbClr val="222B33"/>
                </a:solidFill>
                <a:latin typeface="Calibri"/>
                <a:ea typeface="Calibri"/>
                <a:cs typeface="Calibri"/>
                <a:sym typeface="Calibri"/>
              </a:rPr>
              <a:t>•  Frontend web (CSS, HTML) por debajo de la media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8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8"/>
          <p:cNvSpPr txBox="1"/>
          <p:nvPr/>
        </p:nvSpPr>
        <p:spPr>
          <a:xfrm>
            <a:off x="548640" y="411480"/>
            <a:ext cx="1106424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>
                <a:solidFill>
                  <a:srgbClr val="222B33"/>
                </a:solidFill>
                <a:latin typeface="Calibri"/>
                <a:ea typeface="Calibri"/>
                <a:cs typeface="Calibri"/>
                <a:sym typeface="Calibri"/>
              </a:rPr>
              <a:t>Segmentación del mercado — K-Means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1" lang="en-US" sz="1500">
                <a:solidFill>
                  <a:srgbClr val="667380"/>
                </a:solidFill>
                <a:latin typeface="Calibri"/>
                <a:ea typeface="Calibri"/>
                <a:cs typeface="Calibri"/>
                <a:sym typeface="Calibri"/>
              </a:rPr>
              <a:t>Aprendizaje no supervisado (sin usar el salario)</a:t>
            </a:r>
            <a:endParaRPr/>
          </a:p>
        </p:txBody>
      </p:sp>
      <p:pic>
        <p:nvPicPr>
          <p:cNvPr descr="clusters_segmentos.png" id="159" name="Google Shape;159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2097006"/>
            <a:ext cx="7680960" cy="3029747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8"/>
          <p:cNvSpPr/>
          <p:nvPr/>
        </p:nvSpPr>
        <p:spPr>
          <a:xfrm>
            <a:off x="8412480" y="1691640"/>
            <a:ext cx="3291840" cy="4297680"/>
          </a:xfrm>
          <a:prstGeom prst="roundRect">
            <a:avLst>
              <a:gd fmla="val 16667" name="adj"/>
            </a:avLst>
          </a:prstGeom>
          <a:solidFill>
            <a:srgbClr val="162A4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8"/>
          <p:cNvSpPr txBox="1"/>
          <p:nvPr/>
        </p:nvSpPr>
        <p:spPr>
          <a:xfrm>
            <a:off x="8641080" y="1874519"/>
            <a:ext cx="283464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>
                <a:solidFill>
                  <a:srgbClr val="02C39A"/>
                </a:solidFill>
                <a:latin typeface="Calibri"/>
                <a:ea typeface="Calibri"/>
                <a:cs typeface="Calibri"/>
                <a:sym typeface="Calibri"/>
              </a:rPr>
              <a:t>Cómo se eligen los ejes</a:t>
            </a:r>
            <a:endParaRPr/>
          </a:p>
          <a:p>
            <a:pPr indent="0" lvl="0" marL="0" marR="0" rtl="0" algn="l">
              <a:spcBef>
                <a:spcPts val="700"/>
              </a:spcBef>
              <a:spcAft>
                <a:spcPts val="0"/>
              </a:spcAft>
              <a:buNone/>
            </a:pPr>
            <a:r>
              <a:rPr b="0" i="0" lang="en-US" sz="12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PCA comprime el perfil a 2 ejes: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2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•  Comp. 1 (48%) ≈ años de carrera (junior → senior)</a:t>
            </a:r>
            <a:endParaRPr/>
          </a:p>
          <a:p>
            <a:pPr indent="0" lvl="0" marL="0" marR="0" rtl="0" algn="l">
              <a:spcBef>
                <a:spcPts val="700"/>
              </a:spcBef>
              <a:spcAft>
                <a:spcPts val="0"/>
              </a:spcAft>
              <a:buNone/>
            </a:pPr>
            <a:r>
              <a:rPr b="0" i="0" lang="en-US" sz="12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•  Comp. 2 (15%) ≈ rotación / antigüedad en la empresa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250">
                <a:solidFill>
                  <a:srgbClr val="F2B83E"/>
                </a:solidFill>
                <a:latin typeface="Calibri"/>
                <a:ea typeface="Calibri"/>
                <a:cs typeface="Calibri"/>
                <a:sym typeface="Calibri"/>
              </a:rPr>
              <a:t>4 arquetipos: Exportador joven · Senior/Líder · Dev local junior · Corporativo senior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9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9"/>
          <p:cNvSpPr txBox="1"/>
          <p:nvPr/>
        </p:nvSpPr>
        <p:spPr>
          <a:xfrm>
            <a:off x="548640" y="411480"/>
            <a:ext cx="1106424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>
                <a:solidFill>
                  <a:srgbClr val="222B33"/>
                </a:solidFill>
                <a:latin typeface="Calibri"/>
                <a:ea typeface="Calibri"/>
                <a:cs typeface="Calibri"/>
                <a:sym typeface="Calibri"/>
              </a:rPr>
              <a:t>Modelos — Random Forest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1" lang="en-US" sz="1500">
                <a:solidFill>
                  <a:srgbClr val="667380"/>
                </a:solidFill>
                <a:latin typeface="Calibri"/>
                <a:ea typeface="Calibri"/>
                <a:cs typeface="Calibri"/>
                <a:sym typeface="Calibri"/>
              </a:rPr>
              <a:t>Variable target: salario real (pesos y dólares)</a:t>
            </a:r>
            <a:endParaRPr/>
          </a:p>
        </p:txBody>
      </p:sp>
      <p:pic>
        <p:nvPicPr>
          <p:cNvPr descr="modelos_comparacion_r2.png" id="168" name="Google Shape;168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2112007"/>
            <a:ext cx="6035040" cy="29997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odelos_importancia_features.png" id="169" name="Google Shape;169;p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400800" y="1555696"/>
            <a:ext cx="5394960" cy="4295246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9"/>
          <p:cNvSpPr txBox="1"/>
          <p:nvPr/>
        </p:nvSpPr>
        <p:spPr>
          <a:xfrm>
            <a:off x="548640" y="5806440"/>
            <a:ext cx="111556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350">
                <a:solidFill>
                  <a:srgbClr val="222B33"/>
                </a:solidFill>
                <a:latin typeface="Calibri"/>
                <a:ea typeface="Calibri"/>
                <a:cs typeface="Calibri"/>
                <a:sym typeface="Calibri"/>
              </a:rPr>
              <a:t>Se compararon 5 técnicas (lineal, polinómica, árbol, Random Forest). Mejor: Random Forest, R²=0.30. Top features: experiencia, edad, Go, rol de liderazgo, CABA.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1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10"/>
          <p:cNvSpPr txBox="1"/>
          <p:nvPr/>
        </p:nvSpPr>
        <p:spPr>
          <a:xfrm>
            <a:off x="548640" y="411480"/>
            <a:ext cx="1106424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>
                <a:solidFill>
                  <a:srgbClr val="222B33"/>
                </a:solidFill>
                <a:latin typeface="Calibri"/>
                <a:ea typeface="Calibri"/>
                <a:cs typeface="Calibri"/>
                <a:sym typeface="Calibri"/>
              </a:rPr>
              <a:t>Modelos — Desempeño y validación</a:t>
            </a:r>
            <a:endParaRPr/>
          </a:p>
        </p:txBody>
      </p:sp>
      <p:pic>
        <p:nvPicPr>
          <p:cNvPr descr="modelos_predicho_vs_real.png" id="177" name="Google Shape;177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0074" y="1554480"/>
            <a:ext cx="4486250" cy="4480560"/>
          </a:xfrm>
          <a:prstGeom prst="rect">
            <a:avLst/>
          </a:prstGeom>
          <a:noFill/>
          <a:ln>
            <a:noFill/>
          </a:ln>
        </p:spPr>
      </p:pic>
      <p:sp>
        <p:nvSpPr>
          <p:cNvPr id="178" name="Google Shape;178;p10"/>
          <p:cNvSpPr txBox="1"/>
          <p:nvPr/>
        </p:nvSpPr>
        <p:spPr>
          <a:xfrm>
            <a:off x="5212080" y="1737360"/>
            <a:ext cx="310896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000">
                <a:solidFill>
                  <a:srgbClr val="028090"/>
                </a:solidFill>
                <a:latin typeface="Calibri"/>
                <a:ea typeface="Calibri"/>
                <a:cs typeface="Calibri"/>
                <a:sym typeface="Calibri"/>
              </a:rPr>
              <a:t>R² 0.30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>
                <a:solidFill>
                  <a:srgbClr val="667380"/>
                </a:solidFill>
                <a:latin typeface="Calibri"/>
                <a:ea typeface="Calibri"/>
                <a:cs typeface="Calibri"/>
                <a:sym typeface="Calibri"/>
              </a:rPr>
              <a:t>Varianza explicada (test)</a:t>
            </a:r>
            <a:endParaRPr/>
          </a:p>
        </p:txBody>
      </p:sp>
      <p:sp>
        <p:nvSpPr>
          <p:cNvPr id="179" name="Google Shape;179;p10"/>
          <p:cNvSpPr txBox="1"/>
          <p:nvPr/>
        </p:nvSpPr>
        <p:spPr>
          <a:xfrm>
            <a:off x="8412480" y="1737360"/>
            <a:ext cx="310896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000">
                <a:solidFill>
                  <a:srgbClr val="028090"/>
                </a:solidFill>
                <a:latin typeface="Calibri"/>
                <a:ea typeface="Calibri"/>
                <a:cs typeface="Calibri"/>
                <a:sym typeface="Calibri"/>
              </a:rPr>
              <a:t>$1,42M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>
                <a:solidFill>
                  <a:srgbClr val="667380"/>
                </a:solidFill>
                <a:latin typeface="Calibri"/>
                <a:ea typeface="Calibri"/>
                <a:cs typeface="Calibri"/>
                <a:sym typeface="Calibri"/>
              </a:rPr>
              <a:t>Error medio (MAE)</a:t>
            </a:r>
            <a:endParaRPr/>
          </a:p>
        </p:txBody>
      </p:sp>
      <p:sp>
        <p:nvSpPr>
          <p:cNvPr id="180" name="Google Shape;180;p10"/>
          <p:cNvSpPr txBox="1"/>
          <p:nvPr/>
        </p:nvSpPr>
        <p:spPr>
          <a:xfrm>
            <a:off x="5212080" y="3200400"/>
            <a:ext cx="6492300" cy="17613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>
                <a:solidFill>
                  <a:srgbClr val="028090"/>
                </a:solidFill>
                <a:latin typeface="Calibri"/>
                <a:ea typeface="Calibri"/>
                <a:cs typeface="Calibri"/>
                <a:sym typeface="Calibri"/>
              </a:rPr>
              <a:t>Validación temporal</a:t>
            </a:r>
            <a:endParaRPr/>
          </a:p>
          <a:p>
            <a:pPr indent="0" lvl="0" marL="0" marR="0" rtl="0" algn="l">
              <a:spcBef>
                <a:spcPts val="700"/>
              </a:spcBef>
              <a:spcAft>
                <a:spcPts val="0"/>
              </a:spcAft>
              <a:buNone/>
            </a:pPr>
            <a:r>
              <a:rPr b="0" i="0" lang="en-US" sz="1350">
                <a:solidFill>
                  <a:srgbClr val="222B33"/>
                </a:solidFill>
                <a:latin typeface="Calibri"/>
                <a:ea typeface="Calibri"/>
                <a:cs typeface="Calibri"/>
                <a:sym typeface="Calibri"/>
              </a:rPr>
              <a:t>•  Train = ediciones 2022–2025.1  ·  Test = última encuesta 2025.2</a:t>
            </a:r>
            <a:endParaRPr/>
          </a:p>
          <a:p>
            <a:pPr indent="0" lvl="0" marL="0" marR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0" i="0" lang="en-US" sz="1350">
                <a:solidFill>
                  <a:srgbClr val="222B33"/>
                </a:solidFill>
                <a:latin typeface="Calibri"/>
                <a:ea typeface="Calibri"/>
                <a:cs typeface="Calibri"/>
                <a:sym typeface="Calibri"/>
              </a:rPr>
              <a:t>•  El modelo nunca vio la edición que predice → evaluación honesta.</a:t>
            </a:r>
            <a:endParaRPr/>
          </a:p>
          <a:p>
            <a:pPr indent="0" lvl="0" marL="0" marR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0" i="0" lang="en-US" sz="1350">
                <a:solidFill>
                  <a:srgbClr val="222B33"/>
                </a:solidFill>
                <a:latin typeface="Calibri"/>
                <a:ea typeface="Calibri"/>
                <a:cs typeface="Calibri"/>
                <a:sym typeface="Calibri"/>
              </a:rPr>
              <a:t>•  Temporal R²=0.30 ≈ aleatorio R²=0.33 → generaliza bien al presente.</a:t>
            </a:r>
            <a:endParaRPr/>
          </a:p>
          <a:p>
            <a:pPr indent="0" lvl="0" marL="0" marR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0" i="0" lang="en-US" sz="1350">
                <a:solidFill>
                  <a:srgbClr val="222B33"/>
                </a:solidFill>
                <a:latin typeface="Calibri"/>
                <a:ea typeface="Calibri"/>
                <a:cs typeface="Calibri"/>
                <a:sym typeface="Calibri"/>
              </a:rPr>
              <a:t>•  El techo ~0.30 es esperable: 2/3 del sueldo depende de empresa, negociación y factores no encuestados.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1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11"/>
          <p:cNvSpPr txBox="1"/>
          <p:nvPr/>
        </p:nvSpPr>
        <p:spPr>
          <a:xfrm>
            <a:off x="548640" y="411480"/>
            <a:ext cx="1106424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>
                <a:solidFill>
                  <a:srgbClr val="222B33"/>
                </a:solidFill>
                <a:latin typeface="Calibri"/>
                <a:ea typeface="Calibri"/>
                <a:cs typeface="Calibri"/>
                <a:sym typeface="Calibri"/>
              </a:rPr>
              <a:t>Dificultades del dataset y cómo se resolvieron</a:t>
            </a:r>
            <a:endParaRPr/>
          </a:p>
        </p:txBody>
      </p:sp>
      <p:sp>
        <p:nvSpPr>
          <p:cNvPr id="187" name="Google Shape;187;p11"/>
          <p:cNvSpPr/>
          <p:nvPr/>
        </p:nvSpPr>
        <p:spPr>
          <a:xfrm>
            <a:off x="640080" y="1645920"/>
            <a:ext cx="502920" cy="502920"/>
          </a:xfrm>
          <a:prstGeom prst="roundRect">
            <a:avLst>
              <a:gd fmla="val 16667" name="adj"/>
            </a:avLst>
          </a:prstGeom>
          <a:solidFill>
            <a:srgbClr val="02809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11"/>
          <p:cNvSpPr txBox="1"/>
          <p:nvPr/>
        </p:nvSpPr>
        <p:spPr>
          <a:xfrm>
            <a:off x="658368" y="1645920"/>
            <a:ext cx="5029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✓</a:t>
            </a:r>
            <a:endParaRPr/>
          </a:p>
        </p:txBody>
      </p:sp>
      <p:sp>
        <p:nvSpPr>
          <p:cNvPr id="189" name="Google Shape;189;p11"/>
          <p:cNvSpPr txBox="1"/>
          <p:nvPr/>
        </p:nvSpPr>
        <p:spPr>
          <a:xfrm>
            <a:off x="1325880" y="1600200"/>
            <a:ext cx="1024128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>
                <a:solidFill>
                  <a:srgbClr val="162A4A"/>
                </a:solidFill>
                <a:latin typeface="Calibri"/>
                <a:ea typeface="Calibri"/>
                <a:cs typeface="Calibri"/>
                <a:sym typeface="Calibri"/>
              </a:rPr>
              <a:t>Esquemas distintos por año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300">
                <a:solidFill>
                  <a:srgbClr val="222B33"/>
                </a:solidFill>
                <a:latin typeface="Calibri"/>
                <a:ea typeface="Calibri"/>
                <a:cs typeface="Calibri"/>
                <a:sym typeface="Calibri"/>
              </a:rPr>
              <a:t>Cada edición tenía otros nombres y columnas (43→56). Mapeo robusto por tokens para unificar las 6.</a:t>
            </a:r>
            <a:endParaRPr/>
          </a:p>
        </p:txBody>
      </p:sp>
      <p:sp>
        <p:nvSpPr>
          <p:cNvPr id="190" name="Google Shape;190;p11"/>
          <p:cNvSpPr/>
          <p:nvPr/>
        </p:nvSpPr>
        <p:spPr>
          <a:xfrm>
            <a:off x="640080" y="2578608"/>
            <a:ext cx="502920" cy="502920"/>
          </a:xfrm>
          <a:prstGeom prst="roundRect">
            <a:avLst>
              <a:gd fmla="val 16667" name="adj"/>
            </a:avLst>
          </a:prstGeom>
          <a:solidFill>
            <a:srgbClr val="02809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11"/>
          <p:cNvSpPr txBox="1"/>
          <p:nvPr/>
        </p:nvSpPr>
        <p:spPr>
          <a:xfrm>
            <a:off x="658368" y="2578608"/>
            <a:ext cx="5029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✓</a:t>
            </a:r>
            <a:endParaRPr/>
          </a:p>
        </p:txBody>
      </p:sp>
      <p:sp>
        <p:nvSpPr>
          <p:cNvPr id="192" name="Google Shape;192;p11"/>
          <p:cNvSpPr txBox="1"/>
          <p:nvPr/>
        </p:nvSpPr>
        <p:spPr>
          <a:xfrm>
            <a:off x="1325880" y="2532888"/>
            <a:ext cx="1024128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>
                <a:solidFill>
                  <a:srgbClr val="162A4A"/>
                </a:solidFill>
                <a:latin typeface="Calibri"/>
                <a:ea typeface="Calibri"/>
                <a:cs typeface="Calibri"/>
                <a:sym typeface="Calibri"/>
              </a:rPr>
              <a:t>Comparar a través de 10× de inflación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300">
                <a:solidFill>
                  <a:srgbClr val="222B33"/>
                </a:solidFill>
                <a:latin typeface="Calibri"/>
                <a:ea typeface="Calibri"/>
                <a:cs typeface="Calibri"/>
                <a:sym typeface="Calibri"/>
              </a:rPr>
              <a:t>Deflación por IPC y, en USD, por inflación de EE.UU. (US CPI). Todo a una base común: mayo 2026.</a:t>
            </a:r>
            <a:endParaRPr/>
          </a:p>
        </p:txBody>
      </p:sp>
      <p:sp>
        <p:nvSpPr>
          <p:cNvPr id="193" name="Google Shape;193;p11"/>
          <p:cNvSpPr/>
          <p:nvPr/>
        </p:nvSpPr>
        <p:spPr>
          <a:xfrm>
            <a:off x="640080" y="3511296"/>
            <a:ext cx="502920" cy="502920"/>
          </a:xfrm>
          <a:prstGeom prst="roundRect">
            <a:avLst>
              <a:gd fmla="val 16667" name="adj"/>
            </a:avLst>
          </a:prstGeom>
          <a:solidFill>
            <a:srgbClr val="02809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11"/>
          <p:cNvSpPr txBox="1"/>
          <p:nvPr/>
        </p:nvSpPr>
        <p:spPr>
          <a:xfrm>
            <a:off x="658368" y="3511296"/>
            <a:ext cx="5029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✓</a:t>
            </a:r>
            <a:endParaRPr/>
          </a:p>
        </p:txBody>
      </p:sp>
      <p:sp>
        <p:nvSpPr>
          <p:cNvPr id="195" name="Google Shape;195;p11"/>
          <p:cNvSpPr txBox="1"/>
          <p:nvPr/>
        </p:nvSpPr>
        <p:spPr>
          <a:xfrm>
            <a:off x="1325880" y="3465576"/>
            <a:ext cx="1024128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>
                <a:solidFill>
                  <a:srgbClr val="162A4A"/>
                </a:solidFill>
                <a:latin typeface="Calibri"/>
                <a:ea typeface="Calibri"/>
                <a:cs typeface="Calibri"/>
                <a:sym typeface="Calibri"/>
              </a:rPr>
              <a:t>Ajuste según la moneda nativa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300">
                <a:solidFill>
                  <a:srgbClr val="222B33"/>
                </a:solidFill>
                <a:latin typeface="Calibri"/>
                <a:ea typeface="Calibri"/>
                <a:cs typeface="Calibri"/>
                <a:sym typeface="Calibri"/>
              </a:rPr>
              <a:t>Un sueldo dolarizado no pierde valor con la inflación local: se ajusta por país de la moneda.</a:t>
            </a:r>
            <a:endParaRPr/>
          </a:p>
        </p:txBody>
      </p:sp>
      <p:sp>
        <p:nvSpPr>
          <p:cNvPr id="196" name="Google Shape;196;p11"/>
          <p:cNvSpPr/>
          <p:nvPr/>
        </p:nvSpPr>
        <p:spPr>
          <a:xfrm>
            <a:off x="640080" y="4443984"/>
            <a:ext cx="502920" cy="502920"/>
          </a:xfrm>
          <a:prstGeom prst="roundRect">
            <a:avLst>
              <a:gd fmla="val 16667" name="adj"/>
            </a:avLst>
          </a:prstGeom>
          <a:solidFill>
            <a:srgbClr val="02809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11"/>
          <p:cNvSpPr txBox="1"/>
          <p:nvPr/>
        </p:nvSpPr>
        <p:spPr>
          <a:xfrm>
            <a:off x="658368" y="4443984"/>
            <a:ext cx="5029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✓</a:t>
            </a:r>
            <a:endParaRPr/>
          </a:p>
        </p:txBody>
      </p:sp>
      <p:sp>
        <p:nvSpPr>
          <p:cNvPr id="198" name="Google Shape;198;p11"/>
          <p:cNvSpPr txBox="1"/>
          <p:nvPr/>
        </p:nvSpPr>
        <p:spPr>
          <a:xfrm>
            <a:off x="1325880" y="4398264"/>
            <a:ext cx="1024128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>
                <a:solidFill>
                  <a:srgbClr val="162A4A"/>
                </a:solidFill>
                <a:latin typeface="Calibri"/>
                <a:ea typeface="Calibri"/>
                <a:cs typeface="Calibri"/>
                <a:sym typeface="Calibri"/>
              </a:rPr>
              <a:t>Seniority inferido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300">
                <a:solidFill>
                  <a:srgbClr val="222B33"/>
                </a:solidFill>
                <a:latin typeface="Calibri"/>
                <a:ea typeface="Calibri"/>
                <a:cs typeface="Calibri"/>
                <a:sym typeface="Calibri"/>
              </a:rPr>
              <a:t>En 2022–2023 se derivó de los años → multicolinealidad. Se quitó del modelo sin perder R².</a:t>
            </a:r>
            <a:endParaRPr/>
          </a:p>
        </p:txBody>
      </p:sp>
      <p:sp>
        <p:nvSpPr>
          <p:cNvPr id="199" name="Google Shape;199;p11"/>
          <p:cNvSpPr/>
          <p:nvPr/>
        </p:nvSpPr>
        <p:spPr>
          <a:xfrm>
            <a:off x="640080" y="5376672"/>
            <a:ext cx="502920" cy="502920"/>
          </a:xfrm>
          <a:prstGeom prst="roundRect">
            <a:avLst>
              <a:gd fmla="val 16667" name="adj"/>
            </a:avLst>
          </a:prstGeom>
          <a:solidFill>
            <a:srgbClr val="02809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11"/>
          <p:cNvSpPr txBox="1"/>
          <p:nvPr/>
        </p:nvSpPr>
        <p:spPr>
          <a:xfrm>
            <a:off x="658368" y="5376672"/>
            <a:ext cx="5029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✓</a:t>
            </a:r>
            <a:endParaRPr/>
          </a:p>
        </p:txBody>
      </p:sp>
      <p:sp>
        <p:nvSpPr>
          <p:cNvPr id="201" name="Google Shape;201;p11"/>
          <p:cNvSpPr txBox="1"/>
          <p:nvPr/>
        </p:nvSpPr>
        <p:spPr>
          <a:xfrm>
            <a:off x="1325880" y="5330952"/>
            <a:ext cx="1024128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>
                <a:solidFill>
                  <a:srgbClr val="162A4A"/>
                </a:solidFill>
                <a:latin typeface="Calibri"/>
                <a:ea typeface="Calibri"/>
                <a:cs typeface="Calibri"/>
                <a:sym typeface="Calibri"/>
              </a:rPr>
              <a:t>Validación realista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300">
                <a:solidFill>
                  <a:srgbClr val="222B33"/>
                </a:solidFill>
                <a:latin typeface="Calibri"/>
                <a:ea typeface="Calibri"/>
                <a:cs typeface="Calibri"/>
                <a:sym typeface="Calibri"/>
              </a:rPr>
              <a:t>Split temporal en vez de aleatorio para simular el caso de uso real.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1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12"/>
          <p:cNvSpPr txBox="1"/>
          <p:nvPr/>
        </p:nvSpPr>
        <p:spPr>
          <a:xfrm>
            <a:off x="548640" y="411480"/>
            <a:ext cx="1106424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>
                <a:solidFill>
                  <a:srgbClr val="222B33"/>
                </a:solidFill>
                <a:latin typeface="Calibri"/>
                <a:ea typeface="Calibri"/>
                <a:cs typeface="Calibri"/>
                <a:sym typeface="Calibri"/>
              </a:rPr>
              <a:t>Resultados — Validación de hipótesis</a:t>
            </a:r>
            <a:endParaRPr/>
          </a:p>
        </p:txBody>
      </p:sp>
      <p:sp>
        <p:nvSpPr>
          <p:cNvPr id="208" name="Google Shape;208;p12"/>
          <p:cNvSpPr/>
          <p:nvPr/>
        </p:nvSpPr>
        <p:spPr>
          <a:xfrm>
            <a:off x="640080" y="1691640"/>
            <a:ext cx="777240" cy="548640"/>
          </a:xfrm>
          <a:prstGeom prst="roundRect">
            <a:avLst>
              <a:gd fmla="val 16667" name="adj"/>
            </a:avLst>
          </a:prstGeom>
          <a:solidFill>
            <a:srgbClr val="162A4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12"/>
          <p:cNvSpPr txBox="1"/>
          <p:nvPr/>
        </p:nvSpPr>
        <p:spPr>
          <a:xfrm>
            <a:off x="640080" y="1764792"/>
            <a:ext cx="7772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H1</a:t>
            </a:r>
            <a:endParaRPr/>
          </a:p>
        </p:txBody>
      </p:sp>
      <p:sp>
        <p:nvSpPr>
          <p:cNvPr id="210" name="Google Shape;210;p12"/>
          <p:cNvSpPr txBox="1"/>
          <p:nvPr/>
        </p:nvSpPr>
        <p:spPr>
          <a:xfrm>
            <a:off x="1600200" y="1783080"/>
            <a:ext cx="7315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50">
                <a:solidFill>
                  <a:srgbClr val="222B33"/>
                </a:solidFill>
                <a:latin typeface="Calibri"/>
                <a:ea typeface="Calibri"/>
                <a:cs typeface="Calibri"/>
                <a:sym typeface="Calibri"/>
              </a:rPr>
              <a:t>Seniority/experiencia es el factor más predictivo</a:t>
            </a:r>
            <a:endParaRPr/>
          </a:p>
        </p:txBody>
      </p:sp>
      <p:sp>
        <p:nvSpPr>
          <p:cNvPr id="211" name="Google Shape;211;p12"/>
          <p:cNvSpPr/>
          <p:nvPr/>
        </p:nvSpPr>
        <p:spPr>
          <a:xfrm>
            <a:off x="9052560" y="1737360"/>
            <a:ext cx="2560320" cy="457200"/>
          </a:xfrm>
          <a:prstGeom prst="roundRect">
            <a:avLst>
              <a:gd fmla="val 16667" name="adj"/>
            </a:avLst>
          </a:prstGeom>
          <a:solidFill>
            <a:srgbClr val="02C39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12"/>
          <p:cNvSpPr txBox="1"/>
          <p:nvPr/>
        </p:nvSpPr>
        <p:spPr>
          <a:xfrm>
            <a:off x="9052560" y="1801368"/>
            <a:ext cx="25603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CONFIRMADA</a:t>
            </a:r>
            <a:endParaRPr/>
          </a:p>
        </p:txBody>
      </p:sp>
      <p:sp>
        <p:nvSpPr>
          <p:cNvPr id="213" name="Google Shape;213;p12"/>
          <p:cNvSpPr/>
          <p:nvPr/>
        </p:nvSpPr>
        <p:spPr>
          <a:xfrm>
            <a:off x="640080" y="2359152"/>
            <a:ext cx="777240" cy="548640"/>
          </a:xfrm>
          <a:prstGeom prst="roundRect">
            <a:avLst>
              <a:gd fmla="val 16667" name="adj"/>
            </a:avLst>
          </a:prstGeom>
          <a:solidFill>
            <a:srgbClr val="162A4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12"/>
          <p:cNvSpPr txBox="1"/>
          <p:nvPr/>
        </p:nvSpPr>
        <p:spPr>
          <a:xfrm>
            <a:off x="640080" y="2432304"/>
            <a:ext cx="7772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H2</a:t>
            </a:r>
            <a:endParaRPr/>
          </a:p>
        </p:txBody>
      </p:sp>
      <p:sp>
        <p:nvSpPr>
          <p:cNvPr id="215" name="Google Shape;215;p12"/>
          <p:cNvSpPr txBox="1"/>
          <p:nvPr/>
        </p:nvSpPr>
        <p:spPr>
          <a:xfrm>
            <a:off x="1600200" y="2450592"/>
            <a:ext cx="7315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50">
                <a:solidFill>
                  <a:srgbClr val="222B33"/>
                </a:solidFill>
                <a:latin typeface="Calibri"/>
                <a:ea typeface="Calibri"/>
                <a:cs typeface="Calibri"/>
                <a:sym typeface="Calibri"/>
              </a:rPr>
              <a:t>Rendimientos decrecientes de la experiencia</a:t>
            </a:r>
            <a:endParaRPr/>
          </a:p>
        </p:txBody>
      </p:sp>
      <p:sp>
        <p:nvSpPr>
          <p:cNvPr id="216" name="Google Shape;216;p12"/>
          <p:cNvSpPr/>
          <p:nvPr/>
        </p:nvSpPr>
        <p:spPr>
          <a:xfrm>
            <a:off x="9052560" y="2404872"/>
            <a:ext cx="2560320" cy="457200"/>
          </a:xfrm>
          <a:prstGeom prst="roundRect">
            <a:avLst>
              <a:gd fmla="val 16667" name="adj"/>
            </a:avLst>
          </a:prstGeom>
          <a:solidFill>
            <a:srgbClr val="02C39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12"/>
          <p:cNvSpPr txBox="1"/>
          <p:nvPr/>
        </p:nvSpPr>
        <p:spPr>
          <a:xfrm>
            <a:off x="9052560" y="2468880"/>
            <a:ext cx="25603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CONFIRMADA</a:t>
            </a:r>
            <a:endParaRPr/>
          </a:p>
        </p:txBody>
      </p:sp>
      <p:sp>
        <p:nvSpPr>
          <p:cNvPr id="218" name="Google Shape;218;p12"/>
          <p:cNvSpPr/>
          <p:nvPr/>
        </p:nvSpPr>
        <p:spPr>
          <a:xfrm>
            <a:off x="640080" y="3026664"/>
            <a:ext cx="777240" cy="548640"/>
          </a:xfrm>
          <a:prstGeom prst="roundRect">
            <a:avLst>
              <a:gd fmla="val 16667" name="adj"/>
            </a:avLst>
          </a:prstGeom>
          <a:solidFill>
            <a:srgbClr val="162A4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12"/>
          <p:cNvSpPr txBox="1"/>
          <p:nvPr/>
        </p:nvSpPr>
        <p:spPr>
          <a:xfrm>
            <a:off x="640080" y="3099816"/>
            <a:ext cx="7772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H3</a:t>
            </a:r>
            <a:endParaRPr/>
          </a:p>
        </p:txBody>
      </p:sp>
      <p:sp>
        <p:nvSpPr>
          <p:cNvPr id="220" name="Google Shape;220;p12"/>
          <p:cNvSpPr txBox="1"/>
          <p:nvPr/>
        </p:nvSpPr>
        <p:spPr>
          <a:xfrm>
            <a:off x="1600200" y="3118104"/>
            <a:ext cx="7315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50">
                <a:solidFill>
                  <a:srgbClr val="222B33"/>
                </a:solidFill>
                <a:latin typeface="Calibri"/>
                <a:ea typeface="Calibri"/>
                <a:cs typeface="Calibri"/>
                <a:sym typeface="Calibri"/>
              </a:rPr>
              <a:t>Tecnologías con premium (Go, Rust, Python)</a:t>
            </a:r>
            <a:endParaRPr/>
          </a:p>
        </p:txBody>
      </p:sp>
      <p:sp>
        <p:nvSpPr>
          <p:cNvPr id="221" name="Google Shape;221;p12"/>
          <p:cNvSpPr/>
          <p:nvPr/>
        </p:nvSpPr>
        <p:spPr>
          <a:xfrm>
            <a:off x="9052560" y="3072384"/>
            <a:ext cx="2560320" cy="457200"/>
          </a:xfrm>
          <a:prstGeom prst="roundRect">
            <a:avLst>
              <a:gd fmla="val 16667" name="adj"/>
            </a:avLst>
          </a:prstGeom>
          <a:solidFill>
            <a:srgbClr val="F2B83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12"/>
          <p:cNvSpPr txBox="1"/>
          <p:nvPr/>
        </p:nvSpPr>
        <p:spPr>
          <a:xfrm>
            <a:off x="9052560" y="3136392"/>
            <a:ext cx="25603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PARCIAL</a:t>
            </a:r>
            <a:endParaRPr/>
          </a:p>
        </p:txBody>
      </p:sp>
      <p:sp>
        <p:nvSpPr>
          <p:cNvPr id="223" name="Google Shape;223;p12"/>
          <p:cNvSpPr/>
          <p:nvPr/>
        </p:nvSpPr>
        <p:spPr>
          <a:xfrm>
            <a:off x="640080" y="3694176"/>
            <a:ext cx="777240" cy="548640"/>
          </a:xfrm>
          <a:prstGeom prst="roundRect">
            <a:avLst>
              <a:gd fmla="val 16667" name="adj"/>
            </a:avLst>
          </a:prstGeom>
          <a:solidFill>
            <a:srgbClr val="162A4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12"/>
          <p:cNvSpPr txBox="1"/>
          <p:nvPr/>
        </p:nvSpPr>
        <p:spPr>
          <a:xfrm>
            <a:off x="640080" y="3767328"/>
            <a:ext cx="7772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H4</a:t>
            </a:r>
            <a:endParaRPr/>
          </a:p>
        </p:txBody>
      </p:sp>
      <p:sp>
        <p:nvSpPr>
          <p:cNvPr id="225" name="Google Shape;225;p12"/>
          <p:cNvSpPr txBox="1"/>
          <p:nvPr/>
        </p:nvSpPr>
        <p:spPr>
          <a:xfrm>
            <a:off x="1600200" y="3785615"/>
            <a:ext cx="7315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50">
                <a:solidFill>
                  <a:srgbClr val="222B33"/>
                </a:solidFill>
                <a:latin typeface="Calibri"/>
                <a:ea typeface="Calibri"/>
                <a:cs typeface="Calibri"/>
                <a:sym typeface="Calibri"/>
              </a:rPr>
              <a:t>CABA paga más, pero menos de lo esperado (+24%)</a:t>
            </a:r>
            <a:endParaRPr/>
          </a:p>
        </p:txBody>
      </p:sp>
      <p:sp>
        <p:nvSpPr>
          <p:cNvPr id="226" name="Google Shape;226;p12"/>
          <p:cNvSpPr/>
          <p:nvPr/>
        </p:nvSpPr>
        <p:spPr>
          <a:xfrm>
            <a:off x="9052560" y="3739896"/>
            <a:ext cx="2560320" cy="457200"/>
          </a:xfrm>
          <a:prstGeom prst="roundRect">
            <a:avLst>
              <a:gd fmla="val 16667" name="adj"/>
            </a:avLst>
          </a:prstGeom>
          <a:solidFill>
            <a:srgbClr val="02C39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12"/>
          <p:cNvSpPr txBox="1"/>
          <p:nvPr/>
        </p:nvSpPr>
        <p:spPr>
          <a:xfrm>
            <a:off x="9052560" y="3803904"/>
            <a:ext cx="25603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CONFIRMADA</a:t>
            </a:r>
            <a:endParaRPr/>
          </a:p>
        </p:txBody>
      </p:sp>
      <p:sp>
        <p:nvSpPr>
          <p:cNvPr id="228" name="Google Shape;228;p12"/>
          <p:cNvSpPr/>
          <p:nvPr/>
        </p:nvSpPr>
        <p:spPr>
          <a:xfrm>
            <a:off x="640080" y="4361688"/>
            <a:ext cx="777240" cy="548640"/>
          </a:xfrm>
          <a:prstGeom prst="roundRect">
            <a:avLst>
              <a:gd fmla="val 16667" name="adj"/>
            </a:avLst>
          </a:prstGeom>
          <a:solidFill>
            <a:srgbClr val="162A4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12"/>
          <p:cNvSpPr txBox="1"/>
          <p:nvPr/>
        </p:nvSpPr>
        <p:spPr>
          <a:xfrm>
            <a:off x="640080" y="4434840"/>
            <a:ext cx="7772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H5</a:t>
            </a:r>
            <a:endParaRPr/>
          </a:p>
        </p:txBody>
      </p:sp>
      <p:sp>
        <p:nvSpPr>
          <p:cNvPr id="230" name="Google Shape;230;p12"/>
          <p:cNvSpPr txBox="1"/>
          <p:nvPr/>
        </p:nvSpPr>
        <p:spPr>
          <a:xfrm>
            <a:off x="1600200" y="4453127"/>
            <a:ext cx="7315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50">
                <a:solidFill>
                  <a:srgbClr val="222B33"/>
                </a:solidFill>
                <a:latin typeface="Calibri"/>
                <a:ea typeface="Calibri"/>
                <a:cs typeface="Calibri"/>
                <a:sym typeface="Calibri"/>
              </a:rPr>
              <a:t>Nominal ≠ poder adquisitivo real (brecha −62%)</a:t>
            </a:r>
            <a:endParaRPr/>
          </a:p>
        </p:txBody>
      </p:sp>
      <p:sp>
        <p:nvSpPr>
          <p:cNvPr id="231" name="Google Shape;231;p12"/>
          <p:cNvSpPr/>
          <p:nvPr/>
        </p:nvSpPr>
        <p:spPr>
          <a:xfrm>
            <a:off x="9052560" y="4407407"/>
            <a:ext cx="2560320" cy="457200"/>
          </a:xfrm>
          <a:prstGeom prst="roundRect">
            <a:avLst>
              <a:gd fmla="val 16667" name="adj"/>
            </a:avLst>
          </a:prstGeom>
          <a:solidFill>
            <a:srgbClr val="02C39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12"/>
          <p:cNvSpPr txBox="1"/>
          <p:nvPr/>
        </p:nvSpPr>
        <p:spPr>
          <a:xfrm>
            <a:off x="9052560" y="4471416"/>
            <a:ext cx="25603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CONFIRMADA</a:t>
            </a:r>
            <a:endParaRPr/>
          </a:p>
        </p:txBody>
      </p:sp>
      <p:sp>
        <p:nvSpPr>
          <p:cNvPr id="233" name="Google Shape;233;p12"/>
          <p:cNvSpPr/>
          <p:nvPr/>
        </p:nvSpPr>
        <p:spPr>
          <a:xfrm>
            <a:off x="640080" y="5029200"/>
            <a:ext cx="777240" cy="548640"/>
          </a:xfrm>
          <a:prstGeom prst="roundRect">
            <a:avLst>
              <a:gd fmla="val 16667" name="adj"/>
            </a:avLst>
          </a:prstGeom>
          <a:solidFill>
            <a:srgbClr val="162A4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12"/>
          <p:cNvSpPr txBox="1"/>
          <p:nvPr/>
        </p:nvSpPr>
        <p:spPr>
          <a:xfrm>
            <a:off x="640080" y="5102352"/>
            <a:ext cx="7772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H6</a:t>
            </a:r>
            <a:endParaRPr/>
          </a:p>
        </p:txBody>
      </p:sp>
      <p:sp>
        <p:nvSpPr>
          <p:cNvPr id="235" name="Google Shape;235;p12"/>
          <p:cNvSpPr txBox="1"/>
          <p:nvPr/>
        </p:nvSpPr>
        <p:spPr>
          <a:xfrm>
            <a:off x="1600200" y="5120640"/>
            <a:ext cx="7315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50">
                <a:solidFill>
                  <a:srgbClr val="222B33"/>
                </a:solidFill>
                <a:latin typeface="Calibri"/>
                <a:ea typeface="Calibri"/>
                <a:cs typeface="Calibri"/>
                <a:sym typeface="Calibri"/>
              </a:rPr>
              <a:t>Cobrar en USD da más estabilidad</a:t>
            </a:r>
            <a:endParaRPr/>
          </a:p>
        </p:txBody>
      </p:sp>
      <p:sp>
        <p:nvSpPr>
          <p:cNvPr id="236" name="Google Shape;236;p12"/>
          <p:cNvSpPr/>
          <p:nvPr/>
        </p:nvSpPr>
        <p:spPr>
          <a:xfrm>
            <a:off x="9052560" y="5074920"/>
            <a:ext cx="2560320" cy="457200"/>
          </a:xfrm>
          <a:prstGeom prst="roundRect">
            <a:avLst>
              <a:gd fmla="val 16667" name="adj"/>
            </a:avLst>
          </a:prstGeom>
          <a:solidFill>
            <a:srgbClr val="D9534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12"/>
          <p:cNvSpPr txBox="1"/>
          <p:nvPr/>
        </p:nvSpPr>
        <p:spPr>
          <a:xfrm>
            <a:off x="9052560" y="5138928"/>
            <a:ext cx="25603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REFUTADA</a:t>
            </a:r>
            <a:endParaRPr/>
          </a:p>
        </p:txBody>
      </p:sp>
      <p:sp>
        <p:nvSpPr>
          <p:cNvPr id="238" name="Google Shape;238;p12"/>
          <p:cNvSpPr/>
          <p:nvPr/>
        </p:nvSpPr>
        <p:spPr>
          <a:xfrm>
            <a:off x="640080" y="5696712"/>
            <a:ext cx="777240" cy="548640"/>
          </a:xfrm>
          <a:prstGeom prst="roundRect">
            <a:avLst>
              <a:gd fmla="val 16667" name="adj"/>
            </a:avLst>
          </a:prstGeom>
          <a:solidFill>
            <a:srgbClr val="162A4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12"/>
          <p:cNvSpPr txBox="1"/>
          <p:nvPr/>
        </p:nvSpPr>
        <p:spPr>
          <a:xfrm>
            <a:off x="640080" y="5769864"/>
            <a:ext cx="7772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H7</a:t>
            </a:r>
            <a:endParaRPr/>
          </a:p>
        </p:txBody>
      </p:sp>
      <p:sp>
        <p:nvSpPr>
          <p:cNvPr id="240" name="Google Shape;240;p12"/>
          <p:cNvSpPr txBox="1"/>
          <p:nvPr/>
        </p:nvSpPr>
        <p:spPr>
          <a:xfrm>
            <a:off x="1600200" y="5788152"/>
            <a:ext cx="7315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50">
                <a:solidFill>
                  <a:srgbClr val="222B33"/>
                </a:solidFill>
                <a:latin typeface="Calibri"/>
                <a:ea typeface="Calibri"/>
                <a:cs typeface="Calibri"/>
                <a:sym typeface="Calibri"/>
              </a:rPr>
              <a:t>El ITCRM mueve los sueldos en dólares</a:t>
            </a:r>
            <a:endParaRPr/>
          </a:p>
        </p:txBody>
      </p:sp>
      <p:sp>
        <p:nvSpPr>
          <p:cNvPr id="241" name="Google Shape;241;p12"/>
          <p:cNvSpPr/>
          <p:nvPr/>
        </p:nvSpPr>
        <p:spPr>
          <a:xfrm>
            <a:off x="9052560" y="5742432"/>
            <a:ext cx="2560320" cy="457200"/>
          </a:xfrm>
          <a:prstGeom prst="roundRect">
            <a:avLst>
              <a:gd fmla="val 16667" name="adj"/>
            </a:avLst>
          </a:prstGeom>
          <a:solidFill>
            <a:srgbClr val="F2B83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12"/>
          <p:cNvSpPr txBox="1"/>
          <p:nvPr/>
        </p:nvSpPr>
        <p:spPr>
          <a:xfrm>
            <a:off x="9052560" y="5806440"/>
            <a:ext cx="25603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INDICIO (n=6)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1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13"/>
          <p:cNvSpPr txBox="1"/>
          <p:nvPr/>
        </p:nvSpPr>
        <p:spPr>
          <a:xfrm>
            <a:off x="548640" y="411480"/>
            <a:ext cx="1106424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>
                <a:solidFill>
                  <a:srgbClr val="222B33"/>
                </a:solidFill>
                <a:latin typeface="Calibri"/>
                <a:ea typeface="Calibri"/>
                <a:cs typeface="Calibri"/>
                <a:sym typeface="Calibri"/>
              </a:rPr>
              <a:t>Storytelling — Impacto de la inflación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1" lang="en-US" sz="1500">
                <a:solidFill>
                  <a:srgbClr val="667380"/>
                </a:solidFill>
                <a:latin typeface="Calibri"/>
                <a:ea typeface="Calibri"/>
                <a:cs typeface="Calibri"/>
                <a:sym typeface="Calibri"/>
              </a:rPr>
              <a:t>H5: el número nominal engaña</a:t>
            </a:r>
            <a:endParaRPr/>
          </a:p>
        </p:txBody>
      </p:sp>
      <p:pic>
        <p:nvPicPr>
          <p:cNvPr descr="eda_06_poder_adquisitivo.png" id="249" name="Google Shape;249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48640" y="2084367"/>
            <a:ext cx="7863840" cy="3512225"/>
          </a:xfrm>
          <a:prstGeom prst="rect">
            <a:avLst/>
          </a:prstGeom>
          <a:noFill/>
          <a:ln>
            <a:noFill/>
          </a:ln>
        </p:spPr>
      </p:pic>
      <p:sp>
        <p:nvSpPr>
          <p:cNvPr id="250" name="Google Shape;250;p13"/>
          <p:cNvSpPr/>
          <p:nvPr/>
        </p:nvSpPr>
        <p:spPr>
          <a:xfrm>
            <a:off x="8686800" y="1920240"/>
            <a:ext cx="3017520" cy="3840480"/>
          </a:xfrm>
          <a:prstGeom prst="roundRect">
            <a:avLst>
              <a:gd fmla="val 16667" name="adj"/>
            </a:avLst>
          </a:prstGeom>
          <a:solidFill>
            <a:srgbClr val="F4F7F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13"/>
          <p:cNvSpPr txBox="1"/>
          <p:nvPr/>
        </p:nvSpPr>
        <p:spPr>
          <a:xfrm>
            <a:off x="8869680" y="2103120"/>
            <a:ext cx="2651760" cy="356616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000">
                <a:solidFill>
                  <a:srgbClr val="D9534F"/>
                </a:solidFill>
                <a:latin typeface="Calibri"/>
                <a:ea typeface="Calibri"/>
                <a:cs typeface="Calibri"/>
                <a:sym typeface="Calibri"/>
              </a:rPr>
              <a:t>−62%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300">
                <a:solidFill>
                  <a:srgbClr val="222B33"/>
                </a:solidFill>
                <a:latin typeface="Calibri"/>
                <a:ea typeface="Calibri"/>
                <a:cs typeface="Calibri"/>
                <a:sym typeface="Calibri"/>
              </a:rPr>
              <a:t>brecha promedio entre el sueldo nominal y el real</a:t>
            </a:r>
            <a:endParaRPr/>
          </a:p>
          <a:p>
            <a:pPr indent="0" lvl="0" marL="0" marR="0" rtl="0" algn="l">
              <a:spcBef>
                <a:spcPts val="1400"/>
              </a:spcBef>
              <a:spcAft>
                <a:spcPts val="0"/>
              </a:spcAft>
              <a:buNone/>
            </a:pPr>
            <a:r>
              <a:rPr b="0" i="0" lang="en-US" sz="1300">
                <a:solidFill>
                  <a:srgbClr val="667380"/>
                </a:solidFill>
                <a:latin typeface="Calibri"/>
                <a:ea typeface="Calibri"/>
                <a:cs typeface="Calibri"/>
                <a:sym typeface="Calibri"/>
              </a:rPr>
              <a:t>En pesos reales el poder de compra quedó estancado; el número nominal creció 10× sólo por inflación.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1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14"/>
          <p:cNvSpPr txBox="1"/>
          <p:nvPr/>
        </p:nvSpPr>
        <p:spPr>
          <a:xfrm>
            <a:off x="548640" y="411480"/>
            <a:ext cx="1106424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>
                <a:solidFill>
                  <a:srgbClr val="222B33"/>
                </a:solidFill>
                <a:latin typeface="Calibri"/>
                <a:ea typeface="Calibri"/>
                <a:cs typeface="Calibri"/>
                <a:sym typeface="Calibri"/>
              </a:rPr>
              <a:t>Storytelling — Brechas y dolarización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1" lang="en-US" sz="1500">
                <a:solidFill>
                  <a:srgbClr val="667380"/>
                </a:solidFill>
                <a:latin typeface="Calibri"/>
                <a:ea typeface="Calibri"/>
                <a:cs typeface="Calibri"/>
                <a:sym typeface="Calibri"/>
              </a:rPr>
              <a:t>H4 y H6</a:t>
            </a:r>
            <a:endParaRPr/>
          </a:p>
        </p:txBody>
      </p:sp>
      <p:pic>
        <p:nvPicPr>
          <p:cNvPr descr="eda_07_dolarizacion.png" id="258" name="Google Shape;258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55558" y="1554480"/>
            <a:ext cx="5952722" cy="4297680"/>
          </a:xfrm>
          <a:prstGeom prst="rect">
            <a:avLst/>
          </a:prstGeom>
          <a:noFill/>
          <a:ln>
            <a:noFill/>
          </a:ln>
        </p:spPr>
      </p:pic>
      <p:sp>
        <p:nvSpPr>
          <p:cNvPr id="259" name="Google Shape;259;p14"/>
          <p:cNvSpPr/>
          <p:nvPr/>
        </p:nvSpPr>
        <p:spPr>
          <a:xfrm>
            <a:off x="7680960" y="1691640"/>
            <a:ext cx="4023360" cy="4206240"/>
          </a:xfrm>
          <a:prstGeom prst="roundRect">
            <a:avLst>
              <a:gd fmla="val 16667" name="adj"/>
            </a:avLst>
          </a:prstGeom>
          <a:solidFill>
            <a:srgbClr val="162A4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14"/>
          <p:cNvSpPr txBox="1"/>
          <p:nvPr/>
        </p:nvSpPr>
        <p:spPr>
          <a:xfrm>
            <a:off x="7909560" y="1874519"/>
            <a:ext cx="3566160" cy="393192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>
                <a:solidFill>
                  <a:srgbClr val="02C39A"/>
                </a:solidFill>
                <a:latin typeface="Calibri"/>
                <a:ea typeface="Calibri"/>
                <a:cs typeface="Calibri"/>
                <a:sym typeface="Calibri"/>
              </a:rPr>
              <a:t>El hallazgo contraintuitivo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Cobrar en dólares NO dio más estabilidad (H6 refutada):</a:t>
            </a:r>
            <a:endParaRPr/>
          </a:p>
          <a:p>
            <a:pPr indent="0" lvl="0" marL="0" marR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0" i="0" lang="en-US" sz="1300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•  Volatilidad real mayor (CV 0,23 vs 0,14)</a:t>
            </a:r>
            <a:endParaRPr/>
          </a:p>
          <a:p>
            <a:pPr indent="0" lvl="0" marL="0" marR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0" i="0" lang="en-US" sz="1300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•  Premium real ≈ 0% en el período</a:t>
            </a:r>
            <a:endParaRPr/>
          </a:p>
          <a:p>
            <a:pPr indent="0" lvl="0" marL="0" marR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0" i="0" lang="en-US" sz="1300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•  El dólar protege de la inflación pero expone a la apreciación real del peso</a:t>
            </a:r>
            <a:endParaRPr/>
          </a:p>
          <a:p>
            <a:pPr indent="0" lvl="0" marL="0" marR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0" i="1" lang="en-US" sz="1350">
                <a:solidFill>
                  <a:srgbClr val="F2B83E"/>
                </a:solidFill>
                <a:latin typeface="Calibri"/>
                <a:ea typeface="Calibri"/>
                <a:cs typeface="Calibri"/>
                <a:sym typeface="Calibri"/>
              </a:rPr>
              <a:t>Fue escudo en 2022–23 y lastre en 2024–26.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15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15"/>
          <p:cNvSpPr txBox="1"/>
          <p:nvPr/>
        </p:nvSpPr>
        <p:spPr>
          <a:xfrm>
            <a:off x="548640" y="411480"/>
            <a:ext cx="1106424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>
                <a:solidFill>
                  <a:srgbClr val="222B33"/>
                </a:solidFill>
                <a:latin typeface="Calibri"/>
                <a:ea typeface="Calibri"/>
                <a:cs typeface="Calibri"/>
                <a:sym typeface="Calibri"/>
              </a:rPr>
              <a:t>Demo — La herramienta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1" lang="en-US" sz="1500">
                <a:solidFill>
                  <a:srgbClr val="667380"/>
                </a:solidFill>
                <a:latin typeface="Calibri"/>
                <a:ea typeface="Calibri"/>
                <a:cs typeface="Calibri"/>
                <a:sym typeface="Calibri"/>
              </a:rPr>
              <a:t>App web interactiva (Streamlit)</a:t>
            </a:r>
            <a:endParaRPr/>
          </a:p>
        </p:txBody>
      </p:sp>
      <p:sp>
        <p:nvSpPr>
          <p:cNvPr id="267" name="Google Shape;267;p15"/>
          <p:cNvSpPr/>
          <p:nvPr/>
        </p:nvSpPr>
        <p:spPr>
          <a:xfrm>
            <a:off x="640080" y="1920240"/>
            <a:ext cx="3520440" cy="2560320"/>
          </a:xfrm>
          <a:prstGeom prst="roundRect">
            <a:avLst>
              <a:gd fmla="val 16667" name="adj"/>
            </a:avLst>
          </a:prstGeom>
          <a:solidFill>
            <a:srgbClr val="02809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15"/>
          <p:cNvSpPr txBox="1"/>
          <p:nvPr/>
        </p:nvSpPr>
        <p:spPr>
          <a:xfrm>
            <a:off x="868680" y="2148840"/>
            <a:ext cx="3108960" cy="21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Estimador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Ingresás un perfil y predice el sueldo (Random Forest) con su posición de mercado.</a:t>
            </a:r>
            <a:endParaRPr/>
          </a:p>
        </p:txBody>
      </p:sp>
      <p:sp>
        <p:nvSpPr>
          <p:cNvPr id="269" name="Google Shape;269;p15"/>
          <p:cNvSpPr/>
          <p:nvPr/>
        </p:nvSpPr>
        <p:spPr>
          <a:xfrm>
            <a:off x="4343400" y="1920240"/>
            <a:ext cx="3520440" cy="2560320"/>
          </a:xfrm>
          <a:prstGeom prst="roundRect">
            <a:avLst>
              <a:gd fmla="val 16667" name="adj"/>
            </a:avLst>
          </a:prstGeom>
          <a:solidFill>
            <a:srgbClr val="1C729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15"/>
          <p:cNvSpPr txBox="1"/>
          <p:nvPr/>
        </p:nvSpPr>
        <p:spPr>
          <a:xfrm>
            <a:off x="4572000" y="2148840"/>
            <a:ext cx="3108960" cy="21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Análisis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EDA interactivo: salario por rol, provincia, tecnología y evolución temporal.</a:t>
            </a:r>
            <a:endParaRPr/>
          </a:p>
        </p:txBody>
      </p:sp>
      <p:sp>
        <p:nvSpPr>
          <p:cNvPr id="271" name="Google Shape;271;p15"/>
          <p:cNvSpPr/>
          <p:nvPr/>
        </p:nvSpPr>
        <p:spPr>
          <a:xfrm>
            <a:off x="8046720" y="1920240"/>
            <a:ext cx="3520440" cy="2560320"/>
          </a:xfrm>
          <a:prstGeom prst="roundRect">
            <a:avLst>
              <a:gd fmla="val 16667" name="adj"/>
            </a:avLst>
          </a:prstGeom>
          <a:solidFill>
            <a:srgbClr val="02C39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15"/>
          <p:cNvSpPr txBox="1"/>
          <p:nvPr/>
        </p:nvSpPr>
        <p:spPr>
          <a:xfrm>
            <a:off x="8275320" y="2148840"/>
            <a:ext cx="3108960" cy="21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Segmentos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K-Means: descubrí a qué arquetipo del mercado pertenece un perfil.</a:t>
            </a:r>
            <a:endParaRPr/>
          </a:p>
        </p:txBody>
      </p:sp>
      <p:sp>
        <p:nvSpPr>
          <p:cNvPr id="273" name="Google Shape;273;p15"/>
          <p:cNvSpPr txBox="1"/>
          <p:nvPr/>
        </p:nvSpPr>
        <p:spPr>
          <a:xfrm>
            <a:off x="640080" y="4846320"/>
            <a:ext cx="109728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>
                <a:solidFill>
                  <a:srgbClr val="162A4A"/>
                </a:solidFill>
                <a:latin typeface="Calibri"/>
                <a:ea typeface="Calibri"/>
                <a:cs typeface="Calibri"/>
                <a:sym typeface="Calibri"/>
              </a:rPr>
              <a:t>Dos versiones: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400">
                <a:solidFill>
                  <a:srgbClr val="222B33"/>
                </a:solidFill>
                <a:latin typeface="Calibri"/>
                <a:ea typeface="Calibri"/>
                <a:cs typeface="Calibri"/>
                <a:sym typeface="Calibri"/>
              </a:rPr>
              <a:t>•  🇦🇷  Español / pesos reales      →   streamlit run app/main.py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400">
                <a:solidFill>
                  <a:srgbClr val="222B33"/>
                </a:solidFill>
                <a:latin typeface="Calibri"/>
                <a:ea typeface="Calibri"/>
                <a:cs typeface="Calibri"/>
                <a:sym typeface="Calibri"/>
              </a:rPr>
              <a:t>•  🇺🇸  Inglés / dólares reales      →   streamlit run app_en/main.py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6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A4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16"/>
          <p:cNvSpPr/>
          <p:nvPr/>
        </p:nvSpPr>
        <p:spPr>
          <a:xfrm>
            <a:off x="0" y="0"/>
            <a:ext cx="320040" cy="6858000"/>
          </a:xfrm>
          <a:prstGeom prst="roundRect">
            <a:avLst>
              <a:gd fmla="val 16667" name="adj"/>
            </a:avLst>
          </a:prstGeom>
          <a:solidFill>
            <a:srgbClr val="02C39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16"/>
          <p:cNvSpPr txBox="1"/>
          <p:nvPr/>
        </p:nvSpPr>
        <p:spPr>
          <a:xfrm>
            <a:off x="548640" y="411480"/>
            <a:ext cx="1106424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Conclusiones</a:t>
            </a:r>
            <a:endParaRPr/>
          </a:p>
        </p:txBody>
      </p:sp>
      <p:sp>
        <p:nvSpPr>
          <p:cNvPr id="281" name="Google Shape;281;p16"/>
          <p:cNvSpPr txBox="1"/>
          <p:nvPr/>
        </p:nvSpPr>
        <p:spPr>
          <a:xfrm>
            <a:off x="548640" y="1508760"/>
            <a:ext cx="6675120" cy="475488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>
                <a:solidFill>
                  <a:srgbClr val="02C39A"/>
                </a:solidFill>
                <a:latin typeface="Calibri"/>
                <a:ea typeface="Calibri"/>
                <a:cs typeface="Calibri"/>
                <a:sym typeface="Calibri"/>
              </a:rPr>
              <a:t>Principales hallazgos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4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•  El perfil explica ~30% del sueldo: experiencia y rol de liderazgo mandan.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4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•  El poder de compra real quedó estancado pese a sueldos nominales 10× mayores.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4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•  Dolarizarse hoy no da el premium ni la estabilidad que se cree.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4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•  CABA y las grandes empresas pagan más; el stack backend (Go/Rust) tiene premium.</a:t>
            </a:r>
            <a:endParaRPr/>
          </a:p>
        </p:txBody>
      </p:sp>
      <p:sp>
        <p:nvSpPr>
          <p:cNvPr id="282" name="Google Shape;282;p16"/>
          <p:cNvSpPr/>
          <p:nvPr/>
        </p:nvSpPr>
        <p:spPr>
          <a:xfrm>
            <a:off x="7498079" y="1508760"/>
            <a:ext cx="4114800" cy="4754880"/>
          </a:xfrm>
          <a:prstGeom prst="roundRect">
            <a:avLst>
              <a:gd fmla="val 16667" name="adj"/>
            </a:avLst>
          </a:prstGeom>
          <a:solidFill>
            <a:srgbClr val="1E3A5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16"/>
          <p:cNvSpPr txBox="1"/>
          <p:nvPr/>
        </p:nvSpPr>
        <p:spPr>
          <a:xfrm>
            <a:off x="7772400" y="1737360"/>
            <a:ext cx="35661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27425" lIns="45700" spcFirstLastPara="1" rIns="45700" wrap="square" tIns="274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>
                <a:solidFill>
                  <a:srgbClr val="02C39A"/>
                </a:solidFill>
                <a:latin typeface="Calibri"/>
                <a:ea typeface="Calibri"/>
                <a:cs typeface="Calibri"/>
                <a:sym typeface="Calibri"/>
              </a:rPr>
              <a:t>Valor estratégico</a:t>
            </a:r>
            <a:endParaRPr/>
          </a:p>
          <a:p>
            <a:pPr indent="0" lvl="0" marL="0" marR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0" i="0" lang="en-US" sz="1400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•  Benchmarking salarial objetivo y por segmento.</a:t>
            </a:r>
            <a:endParaRPr/>
          </a:p>
          <a:p>
            <a:pPr indent="0" lvl="0" marL="0" marR="0" rtl="0" algn="l">
              <a:spcBef>
                <a:spcPts val="1100"/>
              </a:spcBef>
              <a:spcAft>
                <a:spcPts val="0"/>
              </a:spcAft>
              <a:buNone/>
            </a:pPr>
            <a:r>
              <a:rPr b="0" i="0" lang="en-US" sz="1400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•  Lectura del costo del talento frente a la macro.</a:t>
            </a:r>
            <a:endParaRPr/>
          </a:p>
          <a:p>
            <a:pPr indent="0" lvl="0" marL="0" marR="0" rtl="0" algn="l">
              <a:spcBef>
                <a:spcPts val="1100"/>
              </a:spcBef>
              <a:spcAft>
                <a:spcPts val="0"/>
              </a:spcAft>
              <a:buNone/>
            </a:pPr>
            <a:r>
              <a:rPr b="0" i="0" lang="en-US" sz="1400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•  Herramienta viva: se reentrena con cada nueva edición.</a:t>
            </a:r>
            <a:endParaRPr/>
          </a:p>
          <a:p>
            <a:pPr indent="0" lvl="0" marL="0" marR="0" rtl="0" algn="l">
              <a:spcBef>
                <a:spcPts val="1100"/>
              </a:spcBef>
              <a:spcAft>
                <a:spcPts val="0"/>
              </a:spcAft>
              <a:buNone/>
            </a:pPr>
            <a:r>
              <a:rPr b="0" i="0" lang="en-US" sz="1400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•  Decisiones de oferta y retención basadas en datos.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