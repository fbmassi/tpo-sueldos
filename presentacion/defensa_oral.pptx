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828800"/>
            <a:ext cx="1188720" cy="164592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48840"/>
            <a:ext cx="11155680" cy="2743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5800" b="1" i="0">
                <a:solidFill>
                  <a:srgbClr val="FFFFFF"/>
                </a:solidFill>
                <a:latin typeface="Arial"/>
              </a:rPr>
              <a:t>MERCADO LABORAL</a:t>
            </a:r>
          </a:p>
          <a:p>
            <a:pPr>
              <a:spcAft>
                <a:spcPts val="600"/>
              </a:spcAft>
            </a:pPr>
            <a:r>
              <a:rPr sz="5800" b="1">
                <a:solidFill>
                  <a:srgbClr val="FFFFFF"/>
                </a:solidFill>
                <a:latin typeface="Arial"/>
              </a:rPr>
              <a:t>TECH </a:t>
            </a:r>
            <a:r>
              <a:rPr sz="5800" b="1">
                <a:solidFill>
                  <a:srgbClr val="E6FF00"/>
                </a:solidFill>
                <a:latin typeface="Arial"/>
              </a:rPr>
              <a:t>ARGENTINO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8C8C8C"/>
                </a:solidFill>
                <a:latin typeface="Calibri"/>
              </a:rPr>
              <a:t>Análisis y predicción de salarios del sector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11064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Arial"/>
              </a:rPr>
              <a:t>TPO Minería de Datos   ·   Sysarmy 2022–2025   ·   31.088 profesionales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00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EQUIPO Y ESTRATEGIA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Quiénes somos y cómo trabajamos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Datos / ETL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Descarga, integración de 9 fuentes y limpieza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38728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Feature eng. / Modelado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Variables, Random Forest, K-Means y evaluación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EDA / Visualización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Análisis exploratorio y storytelling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0264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3144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App / Documentación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Streamlit, informe y presentación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92040"/>
            <a:ext cx="1106424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Estrategia (metodología CRISP-DM):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Comprensión del negocio → Datos → Preparación (limpieza + feature engineering) → Modelado → Evaluación → Despliegue. Trabajo iterativo y versionado en Git, con ramas por feature.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01  ·  </a:t>
            </a:r>
            <a:r>
              <a:rPr sz="1300" b="1">
                <a:solidFill>
                  <a:srgbClr val="8C8C8C"/>
                </a:solidFill>
                <a:latin typeface="Arial"/>
              </a:rPr>
              <a:t>DESCRIPCIÓN DEL DOMINIO Y PROBLEMÁTICA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Mercado laboral tech argentino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94360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El contexto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Sector dinámico, alta rotación y fuerte demanda internacional.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Salarios atados a una macro volátil: +900% de inflación en 3 años y un dólar que se cuadruplicó.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Falta de información integrada sobre salarios: cada encuesta usa otra moneda y otro nivel de precios.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83080"/>
            <a:ext cx="4846320" cy="429768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2011680"/>
            <a:ext cx="4297680" cy="3931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E6FF00"/>
                </a:solidFill>
                <a:latin typeface="Arial"/>
              </a:rPr>
              <a:t>HIPÓTESIS CENTRAL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FFFFFF"/>
                </a:solidFill>
                <a:latin typeface="Calibri"/>
              </a:rPr>
              <a:t>El sueldo real de un profesional tech está determinado por su perfil (rol, experiencia) y su contexto (provincia, modalidad, tamaño de empresa), una vez expresado en moneda constante para que las ediciones sean comparables entre sí.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01  ·  </a:t>
            </a:r>
            <a:r>
              <a:rPr sz="1300" b="1">
                <a:solidFill>
                  <a:srgbClr val="8C8C8C"/>
                </a:solidFill>
                <a:latin typeface="Arial"/>
              </a:rPr>
              <a:t>HIPÓTESIS A TESTEAR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Seis hipótesis desagregadas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659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3055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6712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Seniority/experiencia es el factor más predictivo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3375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50215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53872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experiencia tiene rendimientos decrecientes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7091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87375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91032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Hay tecnologías con premium salarial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9659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13055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16712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CABA paga más, pero menos de lo que se cree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3375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350215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53872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Cobrar en dólares da más estabilidad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7091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487375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491032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El ITCRM mueve los sueldos en dólares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02  ·  </a:t>
            </a:r>
            <a:r>
              <a:rPr sz="1300" b="1">
                <a:solidFill>
                  <a:srgbClr val="8C8C8C"/>
                </a:solidFill>
                <a:latin typeface="Arial"/>
              </a:rPr>
              <a:t>PROPUESTA Y VALOR PARA EL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Qué construimos y para qué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85216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Pipeline de datos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Unifica 6 ediciones de Sysarmy con 8 series macro.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Produce un dataset único, limpio y comparable en el tiempo.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Alimenta los modelos y una app web interactiva.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Calibri"/>
              </a:rPr>
              <a:t>Valor para la gerencia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Benchmarking salarial objetivo para ofertas y retención.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Detección de brechas y de los factores que mueven el sueldo.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Lectura del impacto macro sobre el costo del talento.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83080"/>
            <a:ext cx="4846320" cy="4297680"/>
          </a:xfrm>
          <a:prstGeom prst="round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2057400"/>
            <a:ext cx="429768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1" i="0">
                <a:solidFill>
                  <a:srgbClr val="0A0A0A"/>
                </a:solidFill>
                <a:latin typeface="Arial"/>
              </a:rPr>
              <a:t>EN NÚMEROS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31.088   </a:t>
            </a:r>
            <a:r>
              <a:rPr sz="1300">
                <a:solidFill>
                  <a:srgbClr val="1A1A1A"/>
                </a:solidFill>
              </a:rPr>
              <a:t>profesionales analizados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6   </a:t>
            </a:r>
            <a:r>
              <a:rPr sz="1300">
                <a:solidFill>
                  <a:srgbClr val="1A1A1A"/>
                </a:solidFill>
              </a:rPr>
              <a:t>ediciones unificadas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9   </a:t>
            </a:r>
            <a:r>
              <a:rPr sz="1300">
                <a:solidFill>
                  <a:srgbClr val="1A1A1A"/>
                </a:solidFill>
              </a:rPr>
              <a:t>fuentes de datos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2   </a:t>
            </a:r>
            <a:r>
              <a:rPr sz="1300">
                <a:solidFill>
                  <a:srgbClr val="1A1A1A"/>
                </a:solidFill>
              </a:rPr>
              <a:t>apps (ES/ARS · EN/USD)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0A0A0A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02  ·  </a:t>
            </a:r>
            <a:r>
              <a:rPr sz="1300" b="1">
                <a:solidFill>
                  <a:srgbClr val="8C8C8C"/>
                </a:solidFill>
                <a:latin typeface="Arial"/>
              </a:rPr>
              <a:t>FUENTES UTILIZADAS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Nueve fuentes integradas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7510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Sysarmy (6 ed.)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Salarios y perfiles — 31.088 resp.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82880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59" y="197510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IPC INDEC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Inflación AR (deflactor pesos)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182880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9" y="197510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Dólar MEP / Blue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Tipo de cambio histórico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39242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US CPI (FRED)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Inflación EE.UU. (deflactor USD)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324612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339242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CBT INDEC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Canasta básica (poder adquis.)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324612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9" y="339242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RIPTE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Salario formal promedio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80974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Big Mac Index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Paridad de poder de compra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79" y="466344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80974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ITCRM (BCRA)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Tipo de cambio real multilateral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466344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9" y="480974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Stack Overflow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Benchmark internacional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03  ·  </a:t>
            </a:r>
            <a:r>
              <a:rPr sz="1300" b="1">
                <a:solidFill>
                  <a:srgbClr val="8C8C8C"/>
                </a:solidFill>
                <a:latin typeface="Arial"/>
              </a:rPr>
              <a:t>ARQUITECTURA DE 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Pipeline — diagrama de flujo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1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DESCARGA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9 fuentes → data/raw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36391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47287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0168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2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LIMPIEZA +
UNIFICACIÓN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6 ediciones armonizadas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43600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4496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3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AJUSTE REAL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IPC + US CPI · base may-2026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750808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61704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44584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4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DATASET
FINAL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31.088 × 17 + contexto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1558016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54880"/>
            <a:ext cx="1088136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8C8C8C"/>
                </a:solidFill>
                <a:latin typeface="Calibri"/>
              </a:rPr>
              <a:t>Salidas: dataset_final + contexto_macroeconomico (FK fecha_edicion) · 12 láminas de EDA · modelos (RF + K-Means) · app Streamlit (ES/ARS y EN/USD).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03  ·  </a:t>
            </a:r>
            <a:r>
              <a:rPr sz="1300" b="1">
                <a:solidFill>
                  <a:srgbClr val="8C8C8C"/>
                </a:solidFill>
                <a:latin typeface="Arial"/>
              </a:rPr>
              <a:t>FOCO: LIMPIEZA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De 6 encuestas heterogéneas a un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676656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Armonización de esquemas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cada edición traía 43–56 columnas con nombres distintos; mapeo por tokens al mismo esquema.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Parseo y tipado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salario de texto a número; fechas; normalización de texto.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Valores faltantes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eliminación en columnas críticas (provincia, salario); imputación por mediana/moda en el resto.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Outliers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se conservan marcados; sólo se descartan errores de carga evidentes (&gt;50× la mediana).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783080"/>
            <a:ext cx="4023360" cy="429768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2194560"/>
            <a:ext cx="3566160" cy="3657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0" y="2286000"/>
            <a:ext cx="3840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E6FF00"/>
                </a:solidFill>
                <a:latin typeface="Arial"/>
              </a:rPr>
              <a:t>32.309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315468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filas crudas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326880" y="3611880"/>
            <a:ext cx="365760" cy="502920"/>
          </a:xfrm>
          <a:prstGeom prst="down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4160520"/>
            <a:ext cx="3840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E6FF00"/>
                </a:solidFill>
                <a:latin typeface="Arial"/>
              </a:rPr>
              <a:t>31.088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5029200"/>
            <a:ext cx="38404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filas finales  ·  sólo 3,8% descartado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03  ·  </a:t>
            </a:r>
            <a:r>
              <a:rPr sz="1300" b="1">
                <a:solidFill>
                  <a:srgbClr val="8C8C8C"/>
                </a:solidFill>
                <a:latin typeface="Arial"/>
              </a:rPr>
              <a:t>FOCO: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Construcción de variables — y su justificación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7510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Tecnologías: FUERA del modelo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su premium era proxy del contexto (backend/dólar) y como feature generaban ruido; se analizan en el EDA.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9242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Agrupar roles (698 → top 15 + «Otro»)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reduce cardinalidad y evita dummies ruidosas / overfitting.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6344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80974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Agrupar provincias (&lt;100 → «Otra»)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misma lógica: categorías raras no aportan señal estable.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2880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7510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Target real (deflación IPC / US CPI)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ingeniería del objetivo: hace los salarios comparables en el tiempo.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24612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39242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Selección: se quita seniority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redundante con experiencia (multicolinealidad) → mismo R² con menos ruido.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66344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80974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Anti-leakage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se excluyen variables derivadas del salario (USD, canastas).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Distribución de salarios</a:t>
            </a:r>
          </a:p>
        </p:txBody>
      </p:sp>
      <p:pic>
        <p:nvPicPr>
          <p:cNvPr id="5" name="Picture 4" descr="distribucion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16158"/>
            <a:ext cx="8503920" cy="30486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52560" y="1920240"/>
            <a:ext cx="2743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0A0A0A"/>
                </a:solidFill>
                <a:latin typeface="Arial"/>
              </a:rPr>
              <a:t>$3,19M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mediana (ARS)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3383280"/>
            <a:ext cx="2743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0A0A0A"/>
                </a:solidFill>
                <a:latin typeface="Arial"/>
              </a:rPr>
              <a:t>USD 2.264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mediana (USD)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846320"/>
            <a:ext cx="2743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0A0A0A"/>
                </a:solidFill>
                <a:latin typeface="Arial"/>
              </a:rPr>
              <a:t>31.088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profesionales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Seniority, modalidad y provincias</a:t>
            </a:r>
          </a:p>
        </p:txBody>
      </p:sp>
      <p:pic>
        <p:nvPicPr>
          <p:cNvPr id="5" name="Picture 4" descr="eda_02_senio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02518"/>
            <a:ext cx="5669280" cy="4093043"/>
          </a:xfrm>
          <a:prstGeom prst="rect">
            <a:avLst/>
          </a:prstGeom>
        </p:spPr>
      </p:pic>
      <p:pic>
        <p:nvPicPr>
          <p:cNvPr id="6" name="Picture 5" descr="eda_05_geograf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33106"/>
            <a:ext cx="5577840" cy="40318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97880"/>
            <a:ext cx="1115568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0A0A0A"/>
                </a:solidFill>
                <a:latin typeface="Calibri"/>
              </a:rPr>
              <a:t>Seniority casi sin solapamiento (jr $1,8M → sr $4,3M)  ·  CABA +24% vs interior  ·  remoto +43% en USD.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Tecnologías más usadas</a:t>
            </a:r>
          </a:p>
        </p:txBody>
      </p:sp>
      <p:pic>
        <p:nvPicPr>
          <p:cNvPr id="5" name="Picture 4" descr="eda_04_tecnolog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082" y="1691640"/>
            <a:ext cx="6083755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874519"/>
            <a:ext cx="3383280" cy="402336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2103120"/>
            <a:ext cx="2926080" cy="3657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E6FF00"/>
                </a:solidFill>
                <a:latin typeface="Arial"/>
              </a:rPr>
              <a:t>EL PREMIUM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No lo da la cantidad de tecnologías, sino cuáles: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Go +45%  ·  Rust +48%  ·  Scala +42%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Python +13%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Frontend web (CSS/HTML) bajo la media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 · DISPERSIÓN Y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Cómo se eligieron los ejes (PCA)</a:t>
            </a:r>
          </a:p>
        </p:txBody>
      </p:sp>
      <p:pic>
        <p:nvPicPr>
          <p:cNvPr id="5" name="Picture 4" descr="clusters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51472"/>
            <a:ext cx="7680960" cy="288657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66760" y="1828800"/>
            <a:ext cx="3337560" cy="41148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2057400"/>
            <a:ext cx="288036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E6FF00"/>
                </a:solidFill>
                <a:latin typeface="Arial"/>
              </a:rPr>
              <a:t>PROYECCIÓN 2D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El perfil tiene muchas dimensiones; PCA las comprime a 2 ejes: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Comp. 1 (48%) — años de carrera (junior → senior)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Comp. 2 (15%) — rotación / antigüedad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E6FF00"/>
                </a:solidFill>
                <a:latin typeface="Calibri"/>
              </a:rPr>
              <a:t>Puntos cercanos = perfiles parecidos.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MODELOS DE MINERÍA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Variable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852160" cy="4206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Qué predecimos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El salario bruto REAL, no el nominal: deflactado a pesos (por IPC) y a dólares (por US CPI) de mayo 2026. Así un perfil es comparable entre ediciones.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Por qué real y no nominal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El número nominal creció 10× sólo por inflación: entrenar sobre nominal mezclaría épocas y aprendería el paso del tiempo, no el perfil.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828800"/>
            <a:ext cx="4846320" cy="411480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2286000"/>
            <a:ext cx="4206240" cy="3291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E6FF00"/>
                </a:solidFill>
                <a:latin typeface="Arial"/>
              </a:rPr>
              <a:t>DOS UNIDADES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salario_real_ars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pesos constantes may-2026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salario_real_usd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dólares constantes may-2026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E6FF00"/>
                </a:solidFill>
                <a:latin typeface="Calibri"/>
              </a:rPr>
              <a:t>Difieren en una constante → mismo R².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COMPARACIÓN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Cinco técnicas comparadas</a:t>
            </a:r>
          </a:p>
        </p:txBody>
      </p:sp>
      <p:pic>
        <p:nvPicPr>
          <p:cNvPr id="5" name="Picture 4" descr="modelos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29381"/>
            <a:ext cx="7315200" cy="313075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55279" y="1828800"/>
            <a:ext cx="3749039" cy="411480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2057400"/>
            <a:ext cx="329184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0A0A0A"/>
                </a:solidFill>
                <a:latin typeface="Arial"/>
              </a:rPr>
              <a:t>VALIDACIÓN TEMPORAL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0A0A0A"/>
                </a:solidFill>
                <a:latin typeface="Calibri"/>
              </a:rPr>
              <a:t>Train = ediciones previas. Test = última encuesta 2025.2 (nunca vista).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Lineal simple: 0.13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Lineal múltiple: 0.22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Árbol: 0.20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Polinómica: 0.28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A0A0A"/>
                </a:solidFill>
                <a:latin typeface="Calibri"/>
              </a:rPr>
              <a:t>—  Random Forest: 0.27 (elegido)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RANDOM FOREST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Por qué elegimos Random Forest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801368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A la par del mejor R²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empata con la polinómica en test (R²≈0.27); se elige por lo demás.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24912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770632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97480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Capta no linealidad e interacciones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sin ingeniería manual (p. ej. el plateau de la experiencia).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21024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666744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593592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Robusto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tolera outliers y mezcla de escalas; no necesita estandarizar.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17136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562855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489703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Sin overfitting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regularizado (profundidad y hojas mínimas): train ≈ test.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413248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458968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385816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Interpretable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entrega importancia de variables para la lectura de negocio.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K-MEANS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Segmentación no supervisada</a:t>
            </a:r>
          </a:p>
        </p:txBody>
      </p:sp>
      <p:pic>
        <p:nvPicPr>
          <p:cNvPr id="5" name="Picture 4" descr="clusters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26026"/>
            <a:ext cx="7040880" cy="264602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828800"/>
            <a:ext cx="3931920" cy="411480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2057400"/>
            <a:ext cx="347472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E6FF00"/>
                </a:solidFill>
                <a:latin typeface="Arial"/>
              </a:rPr>
              <a:t>4 ARQUETIPOS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Junior remoto (49%) — $2,75M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Semi-senior dolarizado (21%) — $2,81M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Senior remoto (21%) — $4,43M · el mejor pago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Senior +15 corporativo estable (9%) — $4,01M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E6FF00"/>
                </a:solidFill>
                <a:latin typeface="Calibri"/>
              </a:rPr>
              <a:t>k=4 elegido con codo + silueta.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97880"/>
            <a:ext cx="722376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1">
                <a:solidFill>
                  <a:srgbClr val="8C8C8C"/>
                </a:solidFill>
                <a:latin typeface="Calibri"/>
              </a:rPr>
              <a:t>Nota: K-Means asigna cada punto a su centroide más cercano (verificado al 100%). Se ven solapados por la proyección 2D (muestra el 62% de la info) y porque los perfiles son un continuo — no por error del modelo.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DIFICULTADES CON EL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Problemas y cómo se resolvieron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6537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801368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Comparar a través de 10× de inflación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deflación por IPC y, en USD, por inflación de EE.UU.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24912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6148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97480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Ajuste según la moneda nativa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un sueldo dolarizado se ajusta por inflación de su país, no la local.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21024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593592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Seniority inferido en ediciones viejas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generaba multicolinealidad → se excluyó sin perder R².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17136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55371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89703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Validación realista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split temporal (no aleatorio) para simular el uso real.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413248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449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385816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Ruido de las tecnologías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sacadas del modelo (su premium era proxy del contexto); roles agrupados en top-15.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06  ·  </a:t>
            </a:r>
            <a:r>
              <a:rPr sz="1300" b="1">
                <a:solidFill>
                  <a:srgbClr val="8C8C8C"/>
                </a:solidFill>
                <a:latin typeface="Arial"/>
              </a:rPr>
              <a:t>RESULTADOS Y STORYTELLING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Brechas salariales y región</a:t>
            </a:r>
          </a:p>
        </p:txBody>
      </p:sp>
      <p:pic>
        <p:nvPicPr>
          <p:cNvPr id="5" name="Picture 4" descr="eda_05_geograf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444" y="1737360"/>
            <a:ext cx="5566071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06640" y="1783080"/>
            <a:ext cx="4297680" cy="420624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2011680"/>
            <a:ext cx="3749039" cy="3840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E6FF00"/>
                </a:solidFill>
                <a:latin typeface="Arial"/>
              </a:rPr>
              <a:t>3×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brecha junior → senior: la experiencia manda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Brechas salariales: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liderazgo +0,19 (la mayor)  ·  remoto +43% en USD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Comparativa regional: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CABA +24%  ·  Patagonia (energía) destaca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FFFFFF"/>
                </a:solidFill>
                <a:latin typeface="Calibri"/>
              </a:rPr>
              <a:t>Dolarización (H5): no dio más estabilidad.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06  ·  </a:t>
            </a:r>
            <a:r>
              <a:rPr sz="1300" b="1">
                <a:solidFill>
                  <a:srgbClr val="8C8C8C"/>
                </a:solidFill>
                <a:latin typeface="Arial"/>
              </a:rPr>
              <a:t>RESULTADOS · COMPARATIVA INTERNACIONAL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Argentina vs el mundo</a:t>
            </a:r>
          </a:p>
        </p:txBody>
      </p:sp>
      <p:pic>
        <p:nvPicPr>
          <p:cNvPr id="5" name="Picture 4" descr="comparacion_m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07196"/>
            <a:ext cx="7955279" cy="38494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828800"/>
            <a:ext cx="3291840" cy="411480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2057400"/>
            <a:ext cx="288036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E6FF00"/>
                </a:solidFill>
                <a:latin typeface="Arial"/>
              </a:rPr>
              <a:t>STACK OVERFLOW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Argentina USD 3.333/mes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Arriba de Brasil, Ucrania e India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Abajo de Europa y EE.UU. (12.500)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E6FF00"/>
                </a:solidFill>
                <a:latin typeface="Calibri"/>
              </a:rPr>
              <a:t>Sysarmy mide USD 2.264: más conservador. Stack Overflow capta perfiles más internacionales / senior.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07  ·  </a:t>
            </a:r>
            <a:r>
              <a:rPr sz="1300" b="1">
                <a:solidFill>
                  <a:srgbClr val="8C8C8C"/>
                </a:solidFill>
                <a:latin typeface="Arial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Hallazgos y valor estratégico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94360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Principales hallazgos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El perfil explica ~27% del sueldo: experiencia y liderazgo mandan.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Dolarizarse no dio más premium ni estabilidad.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CABA, grandes empresas y backend (Go/Rust) concentran lo mejor.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Pipeline 100% reproducible: fuentes crudas versionadas en parquet.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83080"/>
            <a:ext cx="4846320" cy="4480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2057400"/>
            <a:ext cx="4297680" cy="4023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Oportunidades y valor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Benchmarking salarial objetivo y por segmento.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Lectura del costo del talento frente a la macro.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Decisiones de oferta y retención basadas en datos.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Herramienta viva: se reentrena con cada edición.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