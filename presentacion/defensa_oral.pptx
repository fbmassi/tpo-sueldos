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88720" cy="164592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48840"/>
            <a:ext cx="1115568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MERCADO LABORAL</a:t>
            </a:r>
          </a:p>
          <a:p>
            <a:pPr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TECH </a:t>
            </a:r>
            <a:r>
              <a:rPr sz="5800" b="1">
                <a:solidFill>
                  <a:srgbClr val="E6FF00"/>
                </a:solidFill>
                <a:latin typeface="Arial"/>
              </a:rPr>
              <a:t>ARGENTINO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8C8C8C"/>
                </a:solidFill>
                <a:latin typeface="Calibri"/>
              </a:rPr>
              <a:t>Análisis y predicción de salarios del sector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Arial"/>
              </a:rPr>
              <a:t>TPO Minería de Datos   ·   Sysarmy 2022–2025   ·   31.088 profesionales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00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EQUIPO Y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Quiénes somos y cómo trabajamos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Datos / ETL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Descarga, integración de 9 fuentes y limpieza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Feature eng. / Modelado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Variables, Random Forest, K-Means y evaluación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EDA / Visualización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Análisis exploratorio y storytelling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4" y="1874519"/>
            <a:ext cx="2697480" cy="2743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057400"/>
            <a:ext cx="237744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App / Documentación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Streamlit, informe y presentación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Nombre: 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642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Estrategia (metodología CRISP-DM):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Comprensión del negocio → Datos → Preparación (limpieza + feature engineering) → Modelado → Evaluación → Despliegue. Trabajo iterativo y versionado en Git, con ramas por feature.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DESCRIPCIÓN DEL DOMINIO Y 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Mercado laboral tech argentino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El contexto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Sector dinámico, alta rotación y fuerte demanda internacional.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Salarios atados a una macro volátil: +900% de inflación en 3 años y un dólar que se cuadruplicó.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Falta de información integrada sobre salarios: cada encuesta usa otra moneda y otro nivel de precios.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11680"/>
            <a:ext cx="4297680" cy="3931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HIPÓTESIS CENTRAL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El sueldo real de un profesional tech está determinado por su perfil (rol, experiencia, tecnologías) y su contexto (provincia, modalidad), una vez ajustado por el contexto macroeconómico (inflación, tipo de cambio real, competitividad).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01  ·  </a:t>
            </a:r>
            <a:r>
              <a:rPr sz="1300" b="1">
                <a:solidFill>
                  <a:srgbClr val="8C8C8C"/>
                </a:solidFill>
                <a:latin typeface="Arial"/>
              </a:rPr>
              <a:t>HIPÓTESIS A TESTEAR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Siete hipótesis desagregadas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Seniority/experiencia es el factor más predictivo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experiencia tiene rendimientos decrecientes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Hay tecnologías con premium salarial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83479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4807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18464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CABA paga más, pero menos de lo que se cree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82880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99339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2996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Nominal ≠ poder adquisitivo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8803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044952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3081528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Cobrar en dólares da más estabilidad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93192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096511"/>
            <a:ext cx="868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0A0A"/>
                </a:solidFill>
                <a:latin typeface="Arial"/>
              </a:rPr>
              <a:t>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133087"/>
            <a:ext cx="42062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El ITCRM mueve los sueldos en dólares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PROPUESTA Y VALOR PARA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Qué construimos y para qué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8521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Pipeline de datos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Unifica 6 ediciones de Sysarmy con 8 series macro.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Produce un dataset único, limpio y comparable en el tiempo.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Alimenta los modelos y una app web interactiva.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Calibri"/>
              </a:rPr>
              <a:t>Valor para la gerencia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Benchmarking salarial objetivo para ofertas y retención.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Detección de brechas y de los factores que mueven el sueldo.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—  Lectura del impacto macro sobre el costo del talento.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297680"/>
          </a:xfrm>
          <a:prstGeom prst="round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EN NÚMEROS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31.088   </a:t>
            </a:r>
            <a:r>
              <a:rPr sz="1300">
                <a:solidFill>
                  <a:srgbClr val="1A1A1A"/>
                </a:solidFill>
              </a:rPr>
              <a:t>profesionales analizados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6   </a:t>
            </a:r>
            <a:r>
              <a:rPr sz="1300">
                <a:solidFill>
                  <a:srgbClr val="1A1A1A"/>
                </a:solidFill>
              </a:rPr>
              <a:t>ediciones unificadas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9   </a:t>
            </a:r>
            <a:r>
              <a:rPr sz="1300">
                <a:solidFill>
                  <a:srgbClr val="1A1A1A"/>
                </a:solidFill>
              </a:rPr>
              <a:t>fuentes de datos</a:t>
            </a:r>
          </a:p>
          <a:p>
            <a:pPr>
              <a:spcAft>
                <a:spcPts val="1000"/>
              </a:spcAft>
            </a:pPr>
            <a:r>
              <a:rPr sz="2600" b="1">
                <a:solidFill>
                  <a:srgbClr val="0A0A0A"/>
                </a:solidFill>
                <a:latin typeface="Arial"/>
              </a:rPr>
              <a:t>2   </a:t>
            </a:r>
            <a:r>
              <a:rPr sz="1300">
                <a:solidFill>
                  <a:srgbClr val="1A1A1A"/>
                </a:solidFill>
              </a:rPr>
              <a:t>apps (ES/ARS · EN/USD)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0A0A0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02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FUENTES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Nueve fuentes integradas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Sysarmy (6 ed.)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Salarios y perfiles — 31.088 resp.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IPC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AR (deflactor pesos)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82880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97510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Dólar MEP / Blue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histórico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US CPI (FRED)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Inflación EE.UU. (deflactor USD)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CBT INDEC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Canasta básica (poder adquis.)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324612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339242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RIPTE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Salario formal promedio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Big Mac Index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Paridad de poder de compra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ITCRM (BCRA)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Tipo de cambio real multilateral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663440"/>
            <a:ext cx="3566160" cy="123444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4809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0A0A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Benchmark internacional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ARQUITECTURA DE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Pipeline — diagrama de flujo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DESCARGA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9 fuentes → data/raw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6391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7287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LIMPIEZA +
UNIFICACIÓN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6 ediciones armonizadas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AJUSTE REAL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IPC + US CPI · base may-2026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61704" y="2103120"/>
            <a:ext cx="246888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488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6FF00"/>
                </a:solidFill>
                <a:latin typeface="Arial"/>
              </a:rPr>
              <a:t>4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DATASET
FINAL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8C8C8C"/>
                </a:solidFill>
                <a:latin typeface="Calibri"/>
              </a:rPr>
              <a:t>31.088 × 17 + contexto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1558016" y="2926080"/>
            <a:ext cx="292608" cy="457200"/>
          </a:xfrm>
          <a:prstGeom prst="right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C8C8C"/>
                </a:solidFill>
                <a:latin typeface="Calibri"/>
              </a:rPr>
              <a:t>Salidas: dataset_final + contexto_macroeconomico (FK fecha_edicion) · 12 láminas de EDA · modelos (RF + K-Means) · app Streamlit (ES/ARS y EN/USD).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LIMPIEZA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De 6 encuestas heterogéneas a un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Armonización de esquemas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cada edición traía 43–56 columnas con nombres distintos; mapeo por tokens al mismo esquema.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Parseo y tipado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salario de texto a número; fechas; normalización de texto.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Valores faltantes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eliminación en columnas críticas (provincia, salario); imputación por mediana/moda en el resto.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A0A0A"/>
                </a:solidFill>
                <a:latin typeface="Arial"/>
              </a:rPr>
              <a:t>Outliers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0A0A0A"/>
                </a:solidFill>
                <a:latin typeface="Calibri"/>
              </a:rPr>
              <a:t>se conservan marcados; sólo se descartan errores de carga evidentes (&gt;50× la mediana).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4023360" cy="429768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194560"/>
            <a:ext cx="356616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228600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32.309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15468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crudas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326880" y="3611880"/>
            <a:ext cx="365760" cy="502920"/>
          </a:xfrm>
          <a:prstGeom prst="downArrow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6FF00"/>
                </a:solidFill>
                <a:latin typeface="Arial"/>
              </a:rPr>
              <a:t>31.088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029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filas finales  ·  sólo 3,8% descartado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03  ·  </a:t>
            </a:r>
            <a:r>
              <a:rPr sz="1300" b="1">
                <a:solidFill>
                  <a:srgbClr val="8C8C8C"/>
                </a:solidFill>
                <a:latin typeface="Arial"/>
              </a:rPr>
              <a:t>FOCO: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Construcción de variables — y su justificación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Multi-hot de tecnologías (top 20)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texto libre «python, sql» → 20 binarias → captura el premium por stack específico.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roles (698 → top 15 + «Otro»)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reduce cardinalidad y evita dummies ruidosas /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Agrupar provincias (&lt;100 → «Otra»)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misma lógica: categorías raras no aportan señal estable.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7510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Target real (deflación IPC / US CPI)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ingeniería del objetivo: hace los salarios comparables en el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24612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9242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Selección: se quita seniority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redundante con experiencia (multicolinealidad) → mismo R² con menos ruido.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663440"/>
            <a:ext cx="5486400" cy="12801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809744"/>
            <a:ext cx="51663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Anti-leakage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 excluyen variables derivadas del salario (USD, canastas).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Distribución de salarios</a:t>
            </a:r>
          </a:p>
        </p:txBody>
      </p:sp>
      <p:pic>
        <p:nvPicPr>
          <p:cNvPr id="5" name="Picture 4" descr="distribucion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6158"/>
            <a:ext cx="8503920" cy="3048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52560" y="192024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$3,19M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(ARS)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338328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USD 2.264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mediana (USD)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846320"/>
            <a:ext cx="2743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0A0A0A"/>
                </a:solidFill>
                <a:latin typeface="Arial"/>
              </a:rPr>
              <a:t>31.088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profesionales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Seniority, modalidad y provincias</a:t>
            </a:r>
          </a:p>
        </p:txBody>
      </p:sp>
      <p:pic>
        <p:nvPicPr>
          <p:cNvPr id="5" name="Picture 4" descr="eda_02_sen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2518"/>
            <a:ext cx="5669280" cy="4093043"/>
          </a:xfrm>
          <a:prstGeom prst="rect">
            <a:avLst/>
          </a:prstGeom>
        </p:spPr>
      </p:pic>
      <p:pic>
        <p:nvPicPr>
          <p:cNvPr id="6" name="Picture 5" descr="eda_05_geograf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3106"/>
            <a:ext cx="5577840" cy="40318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0A0A0A"/>
                </a:solidFill>
                <a:latin typeface="Calibri"/>
              </a:rPr>
              <a:t>Seniority casi sin solapamiento (jr $1,8M → sr $4,3M)  ·  CABA +24% vs interior  ·  remoto +43% en USD.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Tecnologías más usadas</a:t>
            </a:r>
          </a:p>
        </p:txBody>
      </p:sp>
      <p:pic>
        <p:nvPicPr>
          <p:cNvPr id="5" name="Picture 4" descr="eda_04_tecnolo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082" y="1691640"/>
            <a:ext cx="608375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874519"/>
            <a:ext cx="3383280" cy="402336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2103120"/>
            <a:ext cx="29260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EL PREMIUM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No lo da la cantidad de tecnologías, sino cuáles: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Go +45%  ·  Rust +48%  ·  Scala +42%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Python +13%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Frontend web (CSS/HTML) bajo la media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04  ·  </a:t>
            </a:r>
            <a:r>
              <a:rPr sz="1300" b="1">
                <a:solidFill>
                  <a:srgbClr val="8C8C8C"/>
                </a:solidFill>
                <a:latin typeface="Arial"/>
              </a:rPr>
              <a:t>EDA · DISPERSIÓN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Cómo se eligieron los ejes (PCA)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51472"/>
            <a:ext cx="7680960" cy="2886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1828800"/>
            <a:ext cx="3337560" cy="4114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PROYECCIÓN 2D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perfil tiene muchas dimensiones; PCA las comprime a 2 ejes: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1 (48%) — años de carrera (junior → senior)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Comp. 2 (15%) — rotación / antigüedad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Puntos cercanos = perfiles parecidos.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MODELOS DE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Variable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852160" cy="4206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Qué predecimos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salario bruto REAL, no el nominal: deflactado a pesos (por IPC) y a dólares (por US CPI) de mayo 2026. Así un perfil es comparable entre ediciones.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A0A0A"/>
                </a:solidFill>
                <a:latin typeface="Arial"/>
              </a:rPr>
              <a:t>Por qué real y no nominal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0A0A0A"/>
                </a:solidFill>
                <a:latin typeface="Calibri"/>
              </a:rPr>
              <a:t>El número nominal creció 10× sólo por inflación: entrenar sobre nominal mezclaría épocas y aprendería el paso del tiempo, no el perfil.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48463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286000"/>
            <a:ext cx="4206240" cy="3291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DOS UNIDADES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salario_real_ars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pesos constantes may-2026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salario_real_usd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dólares constantes may-2026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Difieren en una constante → mismo R².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COMPARACIÓN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Cinco técnicas, una ganadora</a:t>
            </a:r>
          </a:p>
        </p:txBody>
      </p:sp>
      <p:pic>
        <p:nvPicPr>
          <p:cNvPr id="5" name="Picture 4" descr="modelo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29381"/>
            <a:ext cx="7315200" cy="313075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55279" y="1828800"/>
            <a:ext cx="3749039" cy="4114800"/>
          </a:xfrm>
          <a:prstGeom prst="round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2057400"/>
            <a:ext cx="32918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A0A0A"/>
                </a:solidFill>
                <a:latin typeface="Arial"/>
              </a:rPr>
              <a:t>VALIDACIÓN TEMPORAL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0A0A0A"/>
                </a:solidFill>
                <a:latin typeface="Calibri"/>
              </a:rPr>
              <a:t>Train = ediciones previas. Test = última encuesta 2025.2 (nunca vista).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simple: 0.13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Lineal múltiple: 0.24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Polinómica: 0.29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—  Árbol: 0.22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A0A0A"/>
                </a:solidFill>
                <a:latin typeface="Calibri"/>
              </a:rPr>
              <a:t>—  Random Forest: 0.30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Por qué elegimos Random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801368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Mejor desempeño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mayor R² en test (0.30) y menor error (MAE $1,42M).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70632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97480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Capta no linealidad e interacciones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sin ingeniería manual (p. ej. el plateau de la experiencia).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666744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593592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Robusto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tolera outliers y mezcla de escalas; no necesita estandarizar.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62855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3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Sin overfitting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regularizado (profundidad y hojas mínimas): train ≈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58968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0A0A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385816"/>
            <a:ext cx="102412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Interpretable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C8C8C"/>
                </a:solidFill>
                <a:latin typeface="Calibri"/>
              </a:rPr>
              <a:t>entrega importancia de variables para la lectura de negocio.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Segmentación no supervisada</a:t>
            </a:r>
          </a:p>
        </p:txBody>
      </p:sp>
      <p:pic>
        <p:nvPicPr>
          <p:cNvPr id="5" name="Picture 4" descr="clusters_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6026"/>
            <a:ext cx="7040880" cy="26460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828800"/>
            <a:ext cx="39319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47472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E6FF00"/>
                </a:solidFill>
                <a:latin typeface="Arial"/>
              </a:rPr>
              <a:t>4 ARQUETIPOS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Exportador joven (21%) — USD, remoto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Senior/Líder (21%) — el mejor pago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Dev local junior (49%) — en pesos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—  Corporativo senior (9%) — grandes empresas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E6FF00"/>
                </a:solidFill>
                <a:latin typeface="Calibri"/>
              </a:rPr>
              <a:t>k=4 elegido con codo + silueta.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72237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8C8C8C"/>
                </a:solidFill>
                <a:latin typeface="Calibri"/>
              </a:rPr>
              <a:t>Nota: K-Means asigna cada punto a su centroide más cercano (verificado al 100%). Se ven solapados por la proyección 2D (muestra el 62% de la info) y porque los perfiles son un continuo — no por error del modelo.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05  ·  </a:t>
            </a:r>
            <a:r>
              <a:rPr sz="1300" b="1">
                <a:solidFill>
                  <a:srgbClr val="8C8C8C"/>
                </a:solidFill>
                <a:latin typeface="Arial"/>
              </a:rPr>
              <a:t>DIFICULTADES CON 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Problemas y cómo se resolvieron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01368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Comparar a través de 10× de inflación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deflación por IPC y, en USD, por inflación de EE.UU.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Ajuste según la moneda nativa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un sueldo dolarizado se ajusta por inflación de su país, no la local.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593592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Seniority inferido en ediciones viejas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generaba multicolinealidad → se excluyó sin perder R².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5371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3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Validación realista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split temporal (no aleatorio) para simular el uso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13248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FF00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385816"/>
            <a:ext cx="1033272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A0A0A"/>
                </a:solidFill>
                <a:latin typeface="Arial"/>
              </a:rPr>
              <a:t>Alta cardinalidad de roles/techs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C8C8C"/>
                </a:solidFill>
                <a:latin typeface="Calibri"/>
              </a:rPr>
              <a:t>agrupación + multi-hot para señal estable.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Y STORYTELLING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Brechas, inflación y región</a:t>
            </a:r>
          </a:p>
        </p:txBody>
      </p:sp>
      <p:pic>
        <p:nvPicPr>
          <p:cNvPr id="5" name="Picture 4" descr="eda_06_poder_adquis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7966"/>
            <a:ext cx="6766560" cy="3022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783080"/>
            <a:ext cx="4297680" cy="420624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749039" cy="3840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E6FF00"/>
                </a:solidFill>
                <a:latin typeface="Arial"/>
              </a:rPr>
              <a:t>−62%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brecha promedio entre el sueldo nominal y el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Brechas salariales: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jr→sr casi 3×  ·  liderazgo +0,19 (la mayor)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6FF00"/>
                </a:solidFill>
                <a:latin typeface="Arial"/>
              </a:rPr>
              <a:t>Comparativa regional: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CABA +24%  ·  Patagonia (energía) destaca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FFFFFF"/>
                </a:solidFill>
                <a:latin typeface="Calibri"/>
              </a:rPr>
              <a:t>Dolarización (H6): no dio más estabilidad.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IMPACTO DE LA INFLACIÓN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Evolución del poder de compra en el tiempo</a:t>
            </a:r>
          </a:p>
        </p:txBody>
      </p:sp>
      <p:pic>
        <p:nvPicPr>
          <p:cNvPr id="5" name="Picture 4" descr="evolucion_ind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4356"/>
            <a:ext cx="7680960" cy="35236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2057400"/>
            <a:ext cx="306324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QUÉ MUESTRA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El salario en distintas «varas», base 2022.2 = 100: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pesos reales quedó casi estancado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En USD del momento casi se triplicó (el dólar se atrasó)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Pico en 2024.1 tras la devaluación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 vs RIPTE: los devs se despegaron del salario formal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A0A0A"/>
                </a:solidFill>
                <a:latin typeface="Arial"/>
              </a:rPr>
              <a:t>06  ·  </a:t>
            </a:r>
            <a:r>
              <a:rPr sz="1300" b="1">
                <a:solidFill>
                  <a:srgbClr val="8C8C8C"/>
                </a:solidFill>
                <a:latin typeface="Arial"/>
              </a:rPr>
              <a:t>RESULTADOS · COMPARATIVA INTERNACIONAL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A0A0A"/>
                </a:solidFill>
                <a:latin typeface="Arial"/>
              </a:rPr>
              <a:t>Argentina vs el mundo</a:t>
            </a:r>
          </a:p>
        </p:txBody>
      </p:sp>
      <p:pic>
        <p:nvPicPr>
          <p:cNvPr id="5" name="Picture 4" descr="comparacion_m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07196"/>
            <a:ext cx="7955279" cy="38494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828800"/>
            <a:ext cx="3291840" cy="4114800"/>
          </a:xfrm>
          <a:prstGeom prst="round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2057400"/>
            <a:ext cx="2880360" cy="3749039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E6FF00"/>
                </a:solidFill>
                <a:latin typeface="Arial"/>
              </a:rPr>
              <a:t>STACK OVERFLOW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Argentina USD 3.333/mes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Arriba de Brasil, Ucrania e India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—  Abajo de Europa y EE.UU. (12.500)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E6FF00"/>
                </a:solidFill>
                <a:latin typeface="Calibri"/>
              </a:rPr>
              <a:t>Sysarmy mide USD 2.264: más conservador. Stack Overflow capta perfiles más internacionales / senior.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E6FF00"/>
                </a:solidFill>
                <a:latin typeface="Arial"/>
              </a:rPr>
              <a:t>07  ·  </a:t>
            </a:r>
            <a:r>
              <a:rPr sz="1300" b="1">
                <a:solidFill>
                  <a:srgbClr val="8C8C8C"/>
                </a:solidFill>
                <a:latin typeface="Arial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Hallazgos y 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Principales hallazgos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El perfil explica ~30% del sueldo: experiencia y liderazgo mandan.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Poder de compra real estancado pese a nominales 10× mayores.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Dolarizarse no dio más premium ni estabilidad.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CABA, grandes empresas y backend (Go/Rust) concentran lo mejor.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846320" cy="4480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976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6FF00"/>
                </a:solidFill>
                <a:latin typeface="Arial"/>
              </a:rPr>
              <a:t>Oportunidades y valor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Benchmarking salarial objetivo y por segmento.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Lectura del costo del talento frente a la macro.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Decisiones de oferta y retención basadas en datos.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—  Herramienta viva: se reentrena con cada edición.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